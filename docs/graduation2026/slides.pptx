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目安：0:00–0:15（15秒）</a:t>
            </a:r>
          </a:p>
          <a:p>
            <a:r>
              <a:t>話す要点（読み上げ原稿ではない）</a:t>
            </a:r>
          </a:p>
          <a:p>
            <a:r>
              <a:t>・研究対象はLLM生成のQiskitコード</a:t>
            </a:r>
          </a:p>
          <a:p>
            <a:r>
              <a:t>・救済率と救済する対象の違いを調べる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目安：0:15–0:55（40秒）</a:t>
            </a:r>
          </a:p>
          <a:p>
            <a:r>
              <a:t>話す要点（読み上げ原稿ではない）</a:t>
            </a:r>
          </a:p>
          <a:p>
            <a:r>
              <a:t>・実行可能性と出力の正しさを分ける</a:t>
            </a:r>
          </a:p>
          <a:p>
            <a:r>
              <a:t>・研究の問いは救済数・救済対象・追加消費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目安：0:55–1:45（50秒）</a:t>
            </a:r>
          </a:p>
          <a:p>
            <a:r>
              <a:t>話す要点（読み上げ原稿ではない）</a:t>
            </a:r>
          </a:p>
          <a:p>
            <a:r>
              <a:t>・Rは外部診断なし，FとDは実行診断あり</a:t>
            </a:r>
          </a:p>
          <a:p>
            <a:r>
              <a:t>・Dは説明・原因分析も促す</a:t>
            </a:r>
          </a:p>
          <a:p>
            <a:r>
              <a:t>・Pを含む5条件で計5,000条件記録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目安：1:45–2:25（40秒）</a:t>
            </a:r>
          </a:p>
          <a:p>
            <a:r>
              <a:t>話す要点（読み上げ原稿ではない）</a:t>
            </a:r>
          </a:p>
          <a:p>
            <a:r>
              <a:t>・L3を成功基準とする</a:t>
            </a:r>
          </a:p>
          <a:p>
            <a:r>
              <a:t>・初期成功は修正せず保持</a:t>
            </a:r>
          </a:p>
          <a:p>
            <a:r>
              <a:t>・全件新生成ではなく，到達可能な経路を検証した集計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目安：2:25–3:20（55秒）</a:t>
            </a:r>
          </a:p>
          <a:p>
            <a:r>
              <a:t>話す要点（読み上げ原稿ではない）</a:t>
            </a:r>
          </a:p>
          <a:p>
            <a:r>
              <a:t>・R96/545，F183/545，D180/545</a:t>
            </a:r>
          </a:p>
          <a:p>
            <a:r>
              <a:t>・FとDの差は3組</a:t>
            </a:r>
          </a:p>
          <a:p>
            <a:r>
              <a:t>・数が近くても対象が同じかは別に調べる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目安：3:20–4:10（50秒）</a:t>
            </a:r>
          </a:p>
          <a:p>
            <a:r>
              <a:t>話す要点（読み上げ原稿ではない）</a:t>
            </a:r>
          </a:p>
          <a:p>
            <a:r>
              <a:t>・Fのみ43とDのみ40で計83組</a:t>
            </a:r>
          </a:p>
          <a:p>
            <a:r>
              <a:t>・全例を静的に確認した</a:t>
            </a:r>
          </a:p>
          <a:p>
            <a:r>
              <a:t>・和集合223組を実行前の選択成功率とは解釈しない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目安：4:10–5:05（55秒）</a:t>
            </a:r>
          </a:p>
          <a:p>
            <a:r>
              <a:t>話す要点（読み上げ原稿ではない）</a:t>
            </a:r>
          </a:p>
          <a:p>
            <a:r>
              <a:t>・消費には失敗した修正も含む</a:t>
            </a:r>
          </a:p>
          <a:p>
            <a:r>
              <a:t>・再構成経路の計算値で金銭費用ではない</a:t>
            </a:r>
          </a:p>
          <a:p>
            <a:r>
              <a:t>・上限ごとに独立した実験ではなく，一般的な最適回数は未確定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目安：5:05–6:00（55秒）</a:t>
            </a:r>
          </a:p>
          <a:p>
            <a:r>
              <a:t>話す要点（読み上げ原稿ではない）</a:t>
            </a:r>
          </a:p>
          <a:p>
            <a:r>
              <a:t>・今回の対象・指定入力での結論に限定する</a:t>
            </a:r>
          </a:p>
          <a:p>
            <a:r>
              <a:t>・因果効果・統計的有意差は主張しない</a:t>
            </a:r>
          </a:p>
          <a:p>
            <a:r>
              <a:t>・最後に今後の検証方針を述べて終了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目安：質疑用（本編6分には含めない）</a:t>
            </a:r>
          </a:p>
          <a:p>
            <a:r>
              <a:t>話す要点（読み上げ原稿ではない）</a:t>
            </a:r>
          </a:p>
          <a:p>
            <a:r>
              <a:t>・初期失敗の分母がモデルごとに異なる</a:t>
            </a:r>
          </a:p>
          <a:p>
            <a:r>
              <a:t>・類型とモデル・タスクの関連がある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目安：質疑用</a:t>
            </a:r>
          </a:p>
          <a:p>
            <a:r>
              <a:t>話す要点（読み上げ原稿ではない）</a:t>
            </a:r>
          </a:p>
          <a:p>
            <a:r>
              <a:t>・評価は全入力での正しさを保証しない</a:t>
            </a:r>
          </a:p>
          <a:p>
            <a:r>
              <a:t>・退行0は成功時停止の設計による</a:t>
            </a:r>
          </a:p>
          <a:p>
            <a:r>
              <a:t>・部分追試後に到達しない旧suffixは除外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目安：質疑用</a:t>
            </a:r>
          </a:p>
          <a:p>
            <a:r>
              <a:t>話す要点（読み上げ原稿ではない）</a:t>
            </a:r>
          </a:p>
          <a:p>
            <a:r>
              <a:t>・書誌情報と固定出典の案内</a:t>
            </a:r>
          </a:p>
          <a:p>
            <a:r>
              <a:t>・提出年月・英語表記・類似レポートは別途確認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初期失敗コードを，どこまで救済できるか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800" b="1" lang="ja-JP">
                <a:solidFill>
                  <a:srgbClr val="171717"/>
                </a:solidFill>
                <a:latin typeface="IPAexGothic"/>
              </a:rPr>
              <a:t>量子LLM支援プログラミングにおける</a:t>
            </a:r>
          </a:p>
          <a:p>
            <a:pPr>
              <a:spcAft>
                <a:spcPts val="1000"/>
              </a:spcAft>
            </a:pPr>
            <a:r>
              <a:rPr sz="2800" b="1" lang="ja-JP">
                <a:solidFill>
                  <a:srgbClr val="171717"/>
                </a:solidFill>
                <a:latin typeface="IPAexGothic"/>
              </a:rPr>
              <a:t>失敗類型と介入カタログの実証研究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2023TC011　伊藤 悠真</a:t>
            </a:r>
          </a:p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指導教員　横山 哲郎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6070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実行結果提示と自己デバッグを，同じ初期失敗から比較する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動くコードでも，期待した出力とは限らない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3291840" cy="14630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読込み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000" b="0" lang="ja-JP">
                <a:solidFill>
                  <a:srgbClr val="171717"/>
                </a:solidFill>
                <a:latin typeface="IPAexGothic"/>
              </a:rPr>
              <a:t>import・APIの失敗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3291840" cy="14630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回路構築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974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000" b="0" lang="ja-JP">
                <a:solidFill>
                  <a:srgbClr val="171717"/>
                </a:solidFill>
                <a:latin typeface="IPAexGothic"/>
              </a:rPr>
              <a:t>回路を作れない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74519"/>
            <a:ext cx="3291840" cy="14630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05740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出力検証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6974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000" b="0" lang="ja-JP">
                <a:solidFill>
                  <a:srgbClr val="171717"/>
                </a:solidFill>
                <a:latin typeface="IPAexGothic"/>
              </a:rPr>
              <a:t>期待分布と不一致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1078992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修正でどれだけ救済できるか</a:t>
            </a:r>
          </a:p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同じ失敗を救済するのか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800" b="0" lang="ja-JP">
                <a:solidFill>
                  <a:srgbClr val="171717"/>
                </a:solidFill>
                <a:latin typeface="IPAexGothic"/>
              </a:rPr>
              <a:t>背景：Self-Refine [1] ／ Self-Debugging [2]（完全再現ではない）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同じ初期コードから，3種類の修正を比較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200" b="0" lang="ja-JP">
                <a:solidFill>
                  <a:srgbClr val="171717"/>
                </a:solidFill>
                <a:latin typeface="IPAexGothic"/>
              </a:rPr>
              <a:t>5モデル × 10タスク × seed 0〜19 ＝ 1,000初期組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834640" cy="10515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900" b="1" lang="ja-JP">
                <a:solidFill>
                  <a:srgbClr val="171717"/>
                </a:solidFill>
                <a:latin typeface="IPAexGothic"/>
              </a:rPr>
              <a:t>初期生成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86000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0" lang="ja-JP">
                <a:solidFill>
                  <a:srgbClr val="171717"/>
                </a:solidFill>
                <a:latin typeface="IPAex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286000"/>
            <a:ext cx="6675120" cy="7315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95728"/>
            <a:ext cx="6355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500" b="1" lang="ja-JP">
                <a:solidFill>
                  <a:srgbClr val="171717"/>
                </a:solidFill>
                <a:latin typeface="IPAexGothic"/>
              </a:rPr>
              <a:t>R　自己見直し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37560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0" lang="ja-JP">
                <a:solidFill>
                  <a:srgbClr val="171717"/>
                </a:solidFill>
                <a:latin typeface="IPAex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3337560"/>
            <a:ext cx="6675120" cy="7315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447288"/>
            <a:ext cx="6355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500" b="1" lang="ja-JP">
                <a:solidFill>
                  <a:srgbClr val="171717"/>
                </a:solidFill>
                <a:latin typeface="IPAexGothic"/>
              </a:rPr>
              <a:t>F　実行結果提示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389120"/>
            <a:ext cx="548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0" lang="ja-JP">
                <a:solidFill>
                  <a:srgbClr val="171717"/>
                </a:solidFill>
                <a:latin typeface="IPAex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4389120"/>
            <a:ext cx="6675120" cy="7315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498848"/>
            <a:ext cx="6355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500" b="1" lang="ja-JP">
                <a:solidFill>
                  <a:srgbClr val="171717"/>
                </a:solidFill>
                <a:latin typeface="IPAexGothic"/>
              </a:rPr>
              <a:t>D　診断＋説明・原因分析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最大3修正・成功時停止 ／ 1要求1,024 tokens ／ Pは独立生成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救済率の分母は，初期失敗545組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984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800" b="1" lang="ja-JP">
                <a:solidFill>
                  <a:srgbClr val="171717"/>
                </a:solidFill>
                <a:latin typeface="IPAexGothic"/>
              </a:rPr>
              <a:t>1,000初期組 ＝ 初期成功455組 ＋ 初期失敗545組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34640"/>
            <a:ext cx="10607040" cy="10058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44952"/>
            <a:ext cx="101498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600" b="1" lang="ja-JP">
                <a:solidFill>
                  <a:srgbClr val="171717"/>
                </a:solidFill>
                <a:latin typeface="IPAexGothic"/>
              </a:rPr>
              <a:t>救済率 ＝ 初期失敗から最終成功となった組数 ／ 545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成功：読込み・構築・指定入力の期待出力・構造要件</a:t>
            </a:r>
          </a:p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全入力での正しさを保証する評価ではない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800" b="0" lang="ja-JP">
                <a:solidFill>
                  <a:srgbClr val="171717"/>
                </a:solidFill>
                <a:latin typeface="IPAexGothic"/>
              </a:rPr>
              <a:t>検証済み保存prefix＋必要な部分追試suffixによる現行経路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FとDは初期失敗の約3分の1を救済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200" b="0" lang="ja-JP">
                <a:solidFill>
                  <a:srgbClr val="171717"/>
                </a:solidFill>
                <a:latin typeface="IPAexGothic"/>
              </a:rPr>
              <a:t>共通の分母：初期失敗545組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R　自己見直し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450592"/>
            <a:ext cx="2212848" cy="43891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377440"/>
            <a:ext cx="2834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96組  17.6%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1089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F　実行結果提示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3410712"/>
            <a:ext cx="4224528" cy="4389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337560"/>
            <a:ext cx="2834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183組  33.6%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310896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D　自己デバッグ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370832"/>
            <a:ext cx="4149089" cy="43891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297680"/>
            <a:ext cx="2834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180組  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900" b="0" lang="ja-JP">
                <a:solidFill>
                  <a:srgbClr val="171717"/>
                </a:solidFill>
                <a:latin typeface="IPAexGothic"/>
              </a:rPr>
              <a:t>今回の対象での観測．モデル・介入の一般的優劣は断定しない．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救済数が近くても，救済する対象は異なる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3200400" cy="20116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4000" b="1" lang="ja-JP">
                <a:solidFill>
                  <a:srgbClr val="171717"/>
                </a:solidFill>
                <a:latin typeface="IPAexGothic"/>
              </a:rPr>
              <a:t>43組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27248"/>
            <a:ext cx="2834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500" b="0" lang="ja-JP">
                <a:solidFill>
                  <a:srgbClr val="171717"/>
                </a:solidFill>
                <a:latin typeface="IPAexGothic"/>
              </a:rPr>
              <a:t>Fのみ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874519"/>
            <a:ext cx="3200400" cy="2011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48840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4000" b="1" lang="ja-JP">
                <a:solidFill>
                  <a:srgbClr val="171717"/>
                </a:solidFill>
                <a:latin typeface="IPAexGothic"/>
              </a:rPr>
              <a:t>140組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127248"/>
            <a:ext cx="2834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500" b="0" lang="ja-JP">
                <a:solidFill>
                  <a:srgbClr val="171717"/>
                </a:solidFill>
                <a:latin typeface="IPAexGothic"/>
              </a:rPr>
              <a:t>F/D共通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874519"/>
            <a:ext cx="3200400" cy="20116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148840"/>
            <a:ext cx="28346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4000" b="1" lang="ja-JP">
                <a:solidFill>
                  <a:srgbClr val="171717"/>
                </a:solidFill>
                <a:latin typeface="IPAexGothic"/>
              </a:rPr>
              <a:t>40組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127248"/>
            <a:ext cx="2834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500" b="0" lang="ja-JP">
                <a:solidFill>
                  <a:srgbClr val="171717"/>
                </a:solidFill>
                <a:latin typeface="IPAexGothic"/>
              </a:rPr>
              <a:t>Dのみ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片側救済83組の全履歴を確認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両条件166履歴・398修正遷移 ／ 双方未救済322組</a:t>
            </a:r>
          </a:p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複数箇所が同時に変わるため，成功原因は分離できない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3回目にも救済がある．追加消費と併せて考える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600" b="1" lang="ja-JP">
                <a:solidFill>
                  <a:srgbClr val="171717"/>
                </a:solidFill>
                <a:latin typeface="IPAexGothic"/>
              </a:rPr>
              <a:t>追加tokens／救済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937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600" b="1" lang="ja-JP">
                <a:solidFill>
                  <a:srgbClr val="171717"/>
                </a:solidFill>
                <a:latin typeface="IPAexGothic"/>
              </a:rPr>
              <a:t>3回目の追加救済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640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600" b="1" lang="ja-JP">
                <a:solidFill>
                  <a:srgbClr val="171717"/>
                </a:solidFill>
                <a:latin typeface="IPAexGothic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4206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18,852.6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640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600" b="1" lang="ja-JP">
                <a:solidFill>
                  <a:srgbClr val="171717"/>
                </a:solidFill>
                <a:latin typeface="IPAexGothic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60"/>
            <a:ext cx="4206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9,333.8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6400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600" b="1" lang="ja-JP">
                <a:solidFill>
                  <a:srgbClr val="171717"/>
                </a:solidFill>
                <a:latin typeface="IPAexGothic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14800"/>
            <a:ext cx="4206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10,976.6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6634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200" b="1" lang="ja-JP">
                <a:solidFill>
                  <a:srgbClr val="171717"/>
                </a:solidFill>
                <a:latin typeface="IPAexGothic"/>
              </a:rPr>
              <a:t>F　28組</a:t>
            </a:r>
          </a:p>
          <a:p>
            <a:pPr>
              <a:spcAft>
                <a:spcPts val="1000"/>
              </a:spcAft>
            </a:pPr>
            <a:r>
              <a:rPr sz="3200" b="1" lang="ja-JP">
                <a:solidFill>
                  <a:srgbClr val="171717"/>
                </a:solidFill>
                <a:latin typeface="IPAexGothic"/>
              </a:rPr>
              <a:t>D　33組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51960"/>
            <a:ext cx="466344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2回で止めると</a:t>
            </a:r>
          </a:p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F15.3%・D18.3%の救済を失う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700" b="0" lang="ja-JP">
                <a:solidFill>
                  <a:srgbClr val="171717"/>
                </a:solidFill>
                <a:latin typeface="IPAexGothic"/>
              </a:rPr>
              <a:t>共有初期を除き未救済消費を含む計算値．同じ最大3修正の履歴を区切った比較．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救済率に加え，「何を救済するか」が重要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99669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F183組・D180組を救済（初期失敗545組）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502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99669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片側救済83組：介入で救済対象が異なる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502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886200"/>
            <a:ext cx="99669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700" b="1" lang="ja-JP">
                <a:solidFill>
                  <a:srgbClr val="171717"/>
                </a:solidFill>
                <a:latin typeface="IPAexGothic"/>
              </a:rPr>
              <a:t>追加消費と停止回数の両面から検討する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984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今後：選択・停止方策を事前固定し，別seed・タスクで検証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補足A　モデル・初期失敗類型で傾向が変わる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303520" cy="3931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モデル　失敗分母　R　F　D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Q4　162　31　78　90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G4　62　30　48　38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Q9　66　15　33　28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C7　65　15　23　23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G3　190　5　1　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初期import失敗（271組）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F 58組 ／ D 72組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初期回路構築失敗（126組）</a:t>
            </a:r>
          </a:p>
          <a:p>
            <a:pPr>
              <a:spcAft>
                <a:spcPts val="1000"/>
              </a:spcAft>
            </a:pPr>
            <a:r>
              <a:rPr sz="2300" b="0" lang="ja-JP">
                <a:solidFill>
                  <a:srgbClr val="171717"/>
                </a:solidFill>
                <a:latin typeface="IPAexGothic"/>
              </a:rPr>
              <a:t>F 76組 ／ D 68組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800" b="0" lang="ja-JP">
                <a:solidFill>
                  <a:srgbClr val="171717"/>
                </a:solidFill>
                <a:latin typeface="IPAexGothic"/>
              </a:rPr>
              <a:t>Q4/G4/Q9/C7/G3の正式タグは要旨・論文本体のモデル表を参照．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補足B　評価と経路の範囲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06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L3：指定入力の出力＋所定の構造要件</a:t>
            </a:r>
          </a:p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分布：8,192 shots・全変動距離0.05未満</a:t>
            </a:r>
          </a:p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検証済み保存prefix＋部分追試293ケースのsuffix</a:t>
            </a:r>
          </a:p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旧120件は合算しない／Pは独立生成</a:t>
            </a:r>
          </a:p>
          <a:p>
            <a:pPr>
              <a:spcAft>
                <a:spcPts val="1000"/>
              </a:spcAft>
            </a:pPr>
            <a:r>
              <a:rPr sz="2400" b="0" lang="ja-JP">
                <a:solidFill>
                  <a:srgbClr val="171717"/>
                </a:solidFill>
                <a:latin typeface="IPAexGothic"/>
              </a:rPr>
              <a:t>共有初期・タスク・seed依存，診断文・負荷差が残る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300" b="1" lang="ja-JP">
                <a:solidFill>
                  <a:srgbClr val="171717"/>
                </a:solidFill>
                <a:latin typeface="IPAexGothic"/>
              </a:rPr>
              <a:t>P：改善124組・悪化106組，最終成功473/1,000組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3000" b="1" lang="ja-JP">
                <a:solidFill>
                  <a:srgbClr val="171717"/>
                </a:solidFill>
                <a:latin typeface="IPAexGothic"/>
              </a:rPr>
              <a:t>補足C　参考文献・固定出典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6070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100" b="0" lang="ja-JP">
                <a:solidFill>
                  <a:srgbClr val="555555"/>
                </a:solidFill>
                <a:latin typeface="IPAexGothic"/>
              </a:rPr>
              <a:t>卒業研究発表会　｜　2026-10-16版固定集計 [3]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200" b="0" lang="ja-JP">
                <a:solidFill>
                  <a:srgbClr val="555555"/>
                </a:solidFill>
                <a:latin typeface="IPAex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[1] Madaan et al., Self-Refine, arXiv:2303.17651v2 (2023).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[2] Chen et al., Teaching Large Language Models to Self-Debug,</a:t>
            </a:r>
          </a:p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      arXiv:2304.05128v2 (2023).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[3] 現行救済経路の固定集計（2026-10-16版）</a:t>
            </a:r>
          </a:p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      docs/presentation_sources/20261016T_reachable_rescues/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固定snapshot・全分母CSV・sanity/validation reportを使用．</a:t>
            </a:r>
          </a:p>
          <a:p>
            <a:pPr>
              <a:spcAft>
                <a:spcPts val="1000"/>
              </a:spcAft>
            </a:pPr>
            <a:r>
              <a:rPr sz="2100" b="0" lang="ja-JP">
                <a:solidFill>
                  <a:srgbClr val="171717"/>
                </a:solidFill>
                <a:latin typeface="IPAexGothic"/>
              </a:rPr>
              <a:t>本資料の作成に伴う追加実験は行っていない．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量子LLM支援プログラミングにおける失敗類型と介入カタログの実証研究</dc:title>
  <dc:subject/>
  <dc:creator>伊藤 悠真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