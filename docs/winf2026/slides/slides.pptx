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1枚目　目安 20秒</a:t>
            </a:r>
          </a:p>
          <a:p/>
          <a:p>
            <a:r>
              <a:t>量子回路コードの初期失敗に対して、どの介入で何を救済できるかを調べます。修正だけでなく、独立に生成し直すB4も対照として比較します。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2枚目　目安 45秒</a:t>
            </a:r>
          </a:p>
          <a:p/>
          <a:p>
            <a:r>
              <a:t>量子コードでは、Pythonとして読み込めても回路を作れない場合や、実行できても期待する状態や分布にならない場合があります。Self-RefineとSelf-Debuggingを背景に独自の修正条件を実装しました。先行研究の完全再現ではあ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3枚目　目安 55秒</a:t>
            </a:r>
          </a:p>
          <a:p/>
          <a:p>
            <a:r>
              <a:t>BとR・F・Dは初期コードと初期判定を共有します。Rは外部の実行診断を与えず見直しを促し、Fは実行結果、Dは実行結果に加え説明と原因分析を促します。B4は初期コードを共有し、その失敗組に対して最大3回、課題仕様から独立再生成します。前回コードや診断を入力しません。Pは生成前注意事項を使う別の1回生成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4枚目　目安 60秒</a:t>
            </a:r>
          </a:p>
          <a:p/>
          <a:p>
            <a:r>
              <a:t>本体は5モデル、10タスク、20 seedの千組です。元の3実験は3モデルseed 0〜9の1500条件、5モデルseed 10〜19の2500条件、残り2モデルseed 0〜9の1000条件です。現在の到達経路は検証済み保存prefixと必要な追試suffixで再構成しています。B4は同じ千組への追加対照で、本体の5000条件には混ぜません。出典や時期の差は比較の限界です。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5枚目　目安 45秒</a:t>
            </a:r>
          </a:p>
          <a:p/>
          <a:p>
            <a:r>
              <a:t>千組のうち455組が初期成功、545組が初期失敗です。救済率の分母はこの545組で、モデル率の単純平均ではありません。失敗類型も初期判定で固定します。B4では同じ分母を使いますが、同一コードの修正ではないため追加成功と呼びます。成功判定の主L3は指定入力と構造要件に限定さ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6枚目　目安 60秒</a:t>
            </a:r>
          </a:p>
          <a:p/>
          <a:p>
            <a:r>
              <a:t>Rは96組で17.6%、Fは183組で33.6%、Dは180組で33.0%を救済しました。いずれも分母545組です。今回の対象ではFとDがRより多く救済しましたが、一般的な優劣は断定しません。FとDの差は3組と小さい一方、救済した対象が一致するかは別に確認する必要があ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7枚目　目安 55秒</a:t>
            </a:r>
          </a:p>
          <a:p/>
          <a:p>
            <a:r>
              <a:t>共通救済は140組、Fのみ43組、Dのみ40組、双方未救済322組でした。片側83組の全履歴を確認しました。import、回路構築、ゲート、測定取得など複数の変更が同時に現れ、静的な差分だけで成功原因は決められません。少なくとも一方が救済した223組は、結果を見て選んだ事後的な集合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8枚目　目安 55秒</a:t>
            </a:r>
          </a:p>
          <a:p/>
          <a:p>
            <a:r>
              <a:t>import失敗ではDがFより多く救済し、回路構築失敗ではFが多いという関係でした。出力不一致でも内訳が違います。失敗類型は介入前で固定しています。ただし類型とモデルやタスクは関連するため、例えばimportなら常にDという選択規則は確定できません。率と分母を併記することが重要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9枚目　目安 60秒</a:t>
            </a:r>
          </a:p>
          <a:p/>
          <a:p>
            <a:r>
              <a:t>B4は初期失敗から217組、39.8%が成功し、初期成功を含む最終成功は672組でした。Fより34組、Dより37組多い観測です。最大生成機会を揃えても、B4は過去コードや診断を受け取らず、seed規則や実行時期も異なります。R・F・Dは保存経路の再構成であり、診断を与えることの因果効果や一般的優劣は断定でき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10枚目　目安 50秒</a:t>
            </a:r>
          </a:p>
          <a:p/>
          <a:p>
            <a:r>
              <a:t>未成功例への消費も含む追加tokensを追加成功数で割ると、Rは18852.6、Fは9333.8、Dは10976.6、B4は4589.0でした。共有する初期生成は除いています。B4は1342回の追加要求で995815 tokensでした。入力長や出典などが異なり、R・F・Dは再構成値です。金銭費用や実測の費用削減を示すものではありません。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11枚目　目安 50秒</a:t>
            </a:r>
          </a:p>
          <a:p/>
          <a:p>
            <a:r>
              <a:t>Fの修正ごとの救済は112、43、28組、Dは108、39、33組です。2回で止めると、最大3回で救済できた対象のうちFでは15.3%、Dでは18.3%を失います。この割合の分母は救済総数です。各回上限で独立に実験したものではなく、同じ履歴を打ち切った計算なので、一般的に最適な回数は確定でき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12枚目　目安 45秒</a:t>
            </a:r>
          </a:p>
          <a:p/>
          <a:p>
            <a:r>
              <a:t>カタログの候補はR・F・Dに独立再生成も加えます。記載すべきなのは、対象の失敗類型やモデル、分母、成功対象、追加消費、停止条件、適用範囲です。共有初期やタスク依存があり、5000条件を独立標本とは扱いません。今後は選択と停止を事前に固定し、別seedとタスクで検証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13枚目　目安 40秒</a:t>
            </a:r>
          </a:p>
          <a:p/>
          <a:p>
            <a:r>
              <a:t>FとDは初期失敗の約3分の1を救済しましたが、片側だけが救済した83組がありました。B4は217組の追加成功で、修正だけではなく再生成も対照にする必要性が示されました。率、対象、追加消費を揃えて記録し、今後は事前に固定した方策を別条件で検証します。以上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14枚目　質疑用・本編時間外</a:t>
            </a:r>
          </a:p>
          <a:p/>
          <a:p>
            <a:r>
              <a:t>G4ではF48組・D38組、Q4ではF78組・D90組と大小が逆転します。タグを識別子とし、表記の数値を厳密なパラメータ数と解釈しません。B4は修正ではなく独立再生成による追加成功です。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15枚目　質疑用・本編時間外</a:t>
            </a:r>
          </a:p>
          <a:p/>
          <a:p>
            <a:r>
              <a:t>B4とFは共通131、B4のみ86、Fのみ52、双方未成功276です。B4で成功するからといってFで成功する組をすべて含むわけではありません。Pは別プロンプトによる独立1回生成で、初期成功側に対応する失敗もあるためR・F・Dと同じ作用と解釈し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16枚目　質疑用・本編時間外</a:t>
            </a:r>
          </a:p>
          <a:p/>
          <a:p>
            <a:r>
              <a:t>出力一致は全入力のアルゴリズム同値性ではありません。旧120件は2モデル、seed 0〜2、2条件、L2終了の既報です。B4の追加roundのunknown_error2件はコード側NameErrorでありAPI障害ではありません。元ログには中断時の接続エラーがありますが、保存設定で再開した全件完了の記録を基準に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17枚目　質疑用・本編時間外</a:t>
            </a:r>
          </a:p>
          <a:p/>
          <a:p>
            <a:r>
              <a:t>出典の保存設定、source_manifest、summary、pairwise、sanityを参照してください。今回の資料作成では新規モデル要求や生成コードの実行は行っていません。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2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10881360" cy="27432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0" lang="ja-JP">
                <a:solidFill>
                  <a:srgbClr val="087F8C"/>
                </a:solidFill>
                <a:latin typeface="IPAexGothic"/>
                <a:ea typeface="IPAexGothic"/>
              </a:rPr>
              <a:t>WiNF 2026  /  研究の問い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18520" cy="8229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900" b="1" lang="ja-JP">
                <a:solidFill>
                  <a:srgbClr val="172D44"/>
                </a:solidFill>
                <a:latin typeface="IPAexGothic"/>
                <a:ea typeface="IPAexGothic"/>
              </a:rPr>
              <a:t>初期失敗コードを，どこまで救済できるか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81912"/>
            <a:ext cx="10972800" cy="16459"/>
          </a:xfrm>
          <a:prstGeom prst="rect">
            <a:avLst/>
          </a:prstGeom>
          <a:solidFill>
            <a:srgbClr val="DC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698480" cy="22860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00" b="0" lang="ja-JP">
                <a:solidFill>
                  <a:srgbClr val="52677B"/>
                </a:solidFill>
                <a:latin typeface="IPAexGothic"/>
                <a:ea typeface="IPAexGothic"/>
              </a:rPr>
              <a:t>[3][4] 検証済みの固定集計  ｜  2026-10-28更新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28232"/>
            <a:ext cx="594360" cy="32004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0" lang="ja-JP">
                <a:solidFill>
                  <a:srgbClr val="52677B"/>
                </a:solidFill>
                <a:latin typeface="IPAexGothic"/>
                <a:ea typeface="IPAexGothi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789920" cy="12801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900" b="1" lang="ja-JP">
                <a:solidFill>
                  <a:srgbClr val="203348"/>
                </a:solidFill>
                <a:latin typeface="IPAexGothic"/>
                <a:ea typeface="IPAexGothic"/>
              </a:rPr>
              <a:t>量子LLM支援プログラミングにおける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900" b="1" lang="ja-JP">
                <a:solidFill>
                  <a:srgbClr val="203348"/>
                </a:solidFill>
                <a:latin typeface="IPAexGothic"/>
                <a:ea typeface="IPAexGothic"/>
              </a:rPr>
              <a:t>失敗類型と介入カタログの実証研究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03320"/>
            <a:ext cx="10698480" cy="100584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300" b="0" lang="ja-JP">
                <a:solidFill>
                  <a:srgbClr val="203348"/>
                </a:solidFill>
                <a:latin typeface="IPAexGothic"/>
                <a:ea typeface="IPAexGothic"/>
              </a:rPr>
              <a:t>2023TC011 伊藤 悠真　　指導教員：横山 哲郎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300" b="0" lang="ja-JP">
                <a:solidFill>
                  <a:srgbClr val="203348"/>
                </a:solidFill>
                <a:latin typeface="IPAexGothic"/>
                <a:ea typeface="IPAexGothic"/>
              </a:rPr>
              <a:t>南山大学 理工学部 電子情報学科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5733288"/>
            <a:ext cx="10972800" cy="576072"/>
          </a:xfrm>
          <a:prstGeom prst="rect">
            <a:avLst/>
          </a:prstGeom>
          <a:solidFill>
            <a:srgbClr val="F0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5733288"/>
            <a:ext cx="50292" cy="576072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806440"/>
            <a:ext cx="10561320" cy="438912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200" b="1" lang="ja-JP">
                <a:solidFill>
                  <a:srgbClr val="087F8C"/>
                </a:solidFill>
                <a:latin typeface="IPAexGothic"/>
                <a:ea typeface="IPAexGothic"/>
              </a:rPr>
              <a:t>救済率・救済対象・追加消費から，介入の候補を整理する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2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10881360" cy="27432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0" lang="ja-JP">
                <a:solidFill>
                  <a:srgbClr val="087F8C"/>
                </a:solidFill>
                <a:latin typeface="IPAexGothic"/>
                <a:ea typeface="IPAexGothic"/>
              </a:rPr>
              <a:t>WiNF 2026  /  背景と目的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18520" cy="8229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900" b="1" lang="ja-JP">
                <a:solidFill>
                  <a:srgbClr val="172D44"/>
                </a:solidFill>
                <a:latin typeface="IPAexGothic"/>
                <a:ea typeface="IPAexGothic"/>
              </a:rPr>
              <a:t>実行できても，期待した量子出力とは限らない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81912"/>
            <a:ext cx="10972800" cy="16459"/>
          </a:xfrm>
          <a:prstGeom prst="rect">
            <a:avLst/>
          </a:prstGeom>
          <a:solidFill>
            <a:srgbClr val="DC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698480" cy="22860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00" b="0" lang="ja-JP">
                <a:solidFill>
                  <a:srgbClr val="52677B"/>
                </a:solidFill>
                <a:latin typeface="IPAexGothic"/>
                <a:ea typeface="IPAexGothic"/>
              </a:rPr>
              <a:t>[1] Self-Refine ／ [2] Self-Debugging ／ [3] 本研究の固定集計  ｜  2026-10-28更新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28232"/>
            <a:ext cx="594360" cy="32004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0" lang="ja-JP">
                <a:solidFill>
                  <a:srgbClr val="52677B"/>
                </a:solidFill>
                <a:latin typeface="IPAexGothic"/>
                <a:ea typeface="IPAexGothic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057400"/>
            <a:ext cx="3154680" cy="2084831"/>
          </a:xfrm>
          <a:prstGeom prst="rect">
            <a:avLst/>
          </a:prstGeom>
          <a:solidFill>
            <a:srgbClr val="F0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194560"/>
            <a:ext cx="2788920" cy="3657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000" b="1" lang="ja-JP">
                <a:solidFill>
                  <a:srgbClr val="718398"/>
                </a:solidFill>
                <a:latin typeface="IPAexGothic"/>
                <a:ea typeface="IPAexGothic"/>
              </a:rPr>
              <a:t>読込み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60904"/>
            <a:ext cx="2788920" cy="68580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800" b="1" lang="ja-JP">
                <a:solidFill>
                  <a:srgbClr val="718398"/>
                </a:solidFill>
                <a:latin typeface="IPAexGothic"/>
                <a:ea typeface="IPAexGothic"/>
              </a:rPr>
              <a:t>import・構文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520440"/>
            <a:ext cx="2788920" cy="45720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800" b="0" lang="ja-JP">
                <a:solidFill>
                  <a:srgbClr val="203348"/>
                </a:solidFill>
                <a:latin typeface="IPAexGothic"/>
                <a:ea typeface="IPAexGothic"/>
              </a:rPr>
              <a:t>APIや必須関数の要件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26280" y="2057400"/>
            <a:ext cx="3154680" cy="2084831"/>
          </a:xfrm>
          <a:prstGeom prst="rect">
            <a:avLst/>
          </a:prstGeom>
          <a:solidFill>
            <a:srgbClr val="F0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2194560"/>
            <a:ext cx="2788920" cy="3657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000" b="1" lang="ja-JP">
                <a:solidFill>
                  <a:srgbClr val="087F8C"/>
                </a:solidFill>
                <a:latin typeface="IPAexGothic"/>
                <a:ea typeface="IPAexGothic"/>
              </a:rPr>
              <a:t>回路構築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660904"/>
            <a:ext cx="2788920" cy="68580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800" b="1" lang="ja-JP">
                <a:solidFill>
                  <a:srgbClr val="087F8C"/>
                </a:solidFill>
                <a:latin typeface="IPAexGothic"/>
                <a:ea typeface="IPAexGothic"/>
              </a:rPr>
              <a:t>回路を作れるか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3520440"/>
            <a:ext cx="2788920" cy="45720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800" b="0" lang="ja-JP">
                <a:solidFill>
                  <a:srgbClr val="203348"/>
                </a:solidFill>
                <a:latin typeface="IPAexGothic"/>
                <a:ea typeface="IPAexGothic"/>
              </a:rPr>
              <a:t>構築・評価処理の実行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20" y="2057400"/>
            <a:ext cx="3154680" cy="2084831"/>
          </a:xfrm>
          <a:prstGeom prst="rect">
            <a:avLst/>
          </a:prstGeom>
          <a:solidFill>
            <a:srgbClr val="F0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2194560"/>
            <a:ext cx="2788920" cy="3657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000" b="1" lang="ja-JP">
                <a:solidFill>
                  <a:srgbClr val="BE641C"/>
                </a:solidFill>
                <a:latin typeface="IPAexGothic"/>
                <a:ea typeface="IPAexGothic"/>
              </a:rPr>
              <a:t>出力検証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660904"/>
            <a:ext cx="2788920" cy="68580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800" b="1" lang="ja-JP">
                <a:solidFill>
                  <a:srgbClr val="BE641C"/>
                </a:solidFill>
                <a:latin typeface="IPAexGothic"/>
                <a:ea typeface="IPAexGothic"/>
              </a:rPr>
              <a:t>期待出力か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520440"/>
            <a:ext cx="2788920" cy="45720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800" b="0" lang="ja-JP">
                <a:solidFill>
                  <a:srgbClr val="203348"/>
                </a:solidFill>
                <a:latin typeface="IPAexGothic"/>
                <a:ea typeface="IPAexGothic"/>
              </a:rPr>
              <a:t>指定状態・測定分布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526280"/>
            <a:ext cx="10698480" cy="8229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700" b="1" lang="ja-JP">
                <a:solidFill>
                  <a:srgbClr val="203348"/>
                </a:solidFill>
                <a:latin typeface="IPAexGothic"/>
                <a:ea typeface="IPAexGothic"/>
              </a:rPr>
              <a:t>研究の問い：どれだけ救済できるか／何を救済するか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5733288"/>
            <a:ext cx="10972800" cy="576072"/>
          </a:xfrm>
          <a:prstGeom prst="rect">
            <a:avLst/>
          </a:prstGeom>
          <a:solidFill>
            <a:srgbClr val="F0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5733288"/>
            <a:ext cx="50292" cy="576072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806440"/>
            <a:ext cx="10561320" cy="438912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200" b="1" lang="ja-JP">
                <a:solidFill>
                  <a:srgbClr val="087F8C"/>
                </a:solidFill>
                <a:latin typeface="IPAexGothic"/>
                <a:ea typeface="IPAexGothic"/>
              </a:rPr>
              <a:t>失敗類型・モデル・追加消費を併記した介入カタログへ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2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10881360" cy="27432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0" lang="ja-JP">
                <a:solidFill>
                  <a:srgbClr val="087F8C"/>
                </a:solidFill>
                <a:latin typeface="IPAexGothic"/>
                <a:ea typeface="IPAexGothic"/>
              </a:rPr>
              <a:t>WiNF 2026  /  比較条件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18520" cy="8229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900" b="1" lang="ja-JP">
                <a:solidFill>
                  <a:srgbClr val="172D44"/>
                </a:solidFill>
                <a:latin typeface="IPAexGothic"/>
                <a:ea typeface="IPAexGothic"/>
              </a:rPr>
              <a:t>同じ初期コードから，修正と再生成を比較する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81912"/>
            <a:ext cx="10972800" cy="16459"/>
          </a:xfrm>
          <a:prstGeom prst="rect">
            <a:avLst/>
          </a:prstGeom>
          <a:solidFill>
            <a:srgbClr val="DC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698480" cy="22860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00" b="0" lang="ja-JP">
                <a:solidFill>
                  <a:srgbClr val="52677B"/>
                </a:solidFill>
                <a:latin typeface="IPAexGothic"/>
                <a:ea typeface="IPAexGothic"/>
              </a:rPr>
              <a:t>[3] B/R/F/D/P ／ [4] B4追加対照  ｜  2026-10-28更新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28232"/>
            <a:ext cx="594360" cy="32004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0" lang="ja-JP">
                <a:solidFill>
                  <a:srgbClr val="52677B"/>
                </a:solidFill>
                <a:latin typeface="IPAexGothic"/>
                <a:ea typeface="IPAexGothic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834640"/>
            <a:ext cx="2057400" cy="1051560"/>
          </a:xfrm>
          <a:prstGeom prst="rect">
            <a:avLst/>
          </a:prstGeom>
          <a:solidFill>
            <a:srgbClr val="172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3072384"/>
            <a:ext cx="1783080" cy="54864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500" b="1" lang="ja-JP">
                <a:solidFill>
                  <a:srgbClr val="FFFFFF"/>
                </a:solidFill>
                <a:latin typeface="IPAexGothic"/>
                <a:ea typeface="IPAexGothic"/>
              </a:rPr>
              <a:t>初期生成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993392"/>
            <a:ext cx="548640" cy="45720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600" b="0" lang="ja-JP">
                <a:solidFill>
                  <a:srgbClr val="718398"/>
                </a:solidFill>
                <a:latin typeface="IPAexGothic"/>
                <a:ea typeface="IPAexGothic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03320" y="1901952"/>
            <a:ext cx="7589520" cy="640080"/>
          </a:xfrm>
          <a:prstGeom prst="rect">
            <a:avLst/>
          </a:prstGeom>
          <a:solidFill>
            <a:srgbClr val="F0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0" y="1965960"/>
            <a:ext cx="3383280" cy="45720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200" b="1" lang="ja-JP">
                <a:solidFill>
                  <a:srgbClr val="718398"/>
                </a:solidFill>
                <a:latin typeface="IPAexGothic"/>
                <a:ea typeface="IPAexGothic"/>
              </a:rPr>
              <a:t>R  自己見直し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4927" y="1993392"/>
            <a:ext cx="3657600" cy="41148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800" b="0" lang="ja-JP">
                <a:solidFill>
                  <a:srgbClr val="203348"/>
                </a:solidFill>
                <a:latin typeface="IPAexGothic"/>
                <a:ea typeface="IPAexGothic"/>
              </a:rPr>
              <a:t>自分のコードを見直す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779776"/>
            <a:ext cx="548640" cy="45720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600" b="0" lang="ja-JP">
                <a:solidFill>
                  <a:srgbClr val="087F8C"/>
                </a:solidFill>
                <a:latin typeface="IPAexGothic"/>
                <a:ea typeface="IPAexGothic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03320" y="2688336"/>
            <a:ext cx="7589520" cy="640080"/>
          </a:xfrm>
          <a:prstGeom prst="rect">
            <a:avLst/>
          </a:prstGeom>
          <a:solidFill>
            <a:srgbClr val="F0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0" y="2752344"/>
            <a:ext cx="3383280" cy="45720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200" b="1" lang="ja-JP">
                <a:solidFill>
                  <a:srgbClr val="087F8C"/>
                </a:solidFill>
                <a:latin typeface="IPAexGothic"/>
                <a:ea typeface="IPAexGothic"/>
              </a:rPr>
              <a:t>F  実行結果提示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4927" y="2779776"/>
            <a:ext cx="3657600" cy="41148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800" b="0" lang="ja-JP">
                <a:solidFill>
                  <a:srgbClr val="203348"/>
                </a:solidFill>
                <a:latin typeface="IPAexGothic"/>
                <a:ea typeface="IPAexGothic"/>
              </a:rPr>
              <a:t>エラー等の診断を提示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566160"/>
            <a:ext cx="548640" cy="45720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600" b="0" lang="ja-JP">
                <a:solidFill>
                  <a:srgbClr val="BE641C"/>
                </a:solidFill>
                <a:latin typeface="IPAexGothic"/>
                <a:ea typeface="IPAexGothic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03320" y="3474720"/>
            <a:ext cx="7589520" cy="640080"/>
          </a:xfrm>
          <a:prstGeom prst="rect">
            <a:avLst/>
          </a:prstGeom>
          <a:solidFill>
            <a:srgbClr val="F0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0" y="3538727"/>
            <a:ext cx="3383280" cy="45720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200" b="1" lang="ja-JP">
                <a:solidFill>
                  <a:srgbClr val="BE641C"/>
                </a:solidFill>
                <a:latin typeface="IPAexGothic"/>
                <a:ea typeface="IPAexGothic"/>
              </a:rPr>
              <a:t>D  自己デバッグ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4927" y="3566160"/>
            <a:ext cx="3657600" cy="41148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800" b="0" lang="ja-JP">
                <a:solidFill>
                  <a:srgbClr val="203348"/>
                </a:solidFill>
                <a:latin typeface="IPAexGothic"/>
                <a:ea typeface="IPAexGothic"/>
              </a:rPr>
              <a:t>診断＋説明・原因分析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4352544"/>
            <a:ext cx="548640" cy="45720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600" b="0" lang="ja-JP">
                <a:solidFill>
                  <a:srgbClr val="7553A6"/>
                </a:solidFill>
                <a:latin typeface="IPAexGothic"/>
                <a:ea typeface="IPAexGothic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03320" y="4261104"/>
            <a:ext cx="7589520" cy="640080"/>
          </a:xfrm>
          <a:prstGeom prst="rect">
            <a:avLst/>
          </a:prstGeom>
          <a:solidFill>
            <a:srgbClr val="F0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0" y="4325112"/>
            <a:ext cx="3383280" cy="45720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200" b="1" lang="ja-JP">
                <a:solidFill>
                  <a:srgbClr val="7553A6"/>
                </a:solidFill>
                <a:latin typeface="IPAexGothic"/>
                <a:ea typeface="IPAexGothic"/>
              </a:rPr>
              <a:t>B4  独立再生成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4927" y="4352544"/>
            <a:ext cx="3657600" cy="41148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800" b="0" lang="ja-JP">
                <a:solidFill>
                  <a:srgbClr val="203348"/>
                </a:solidFill>
                <a:latin typeface="IPAexGothic"/>
                <a:ea typeface="IPAexGothic"/>
              </a:rPr>
              <a:t>前回コード・診断は渡さない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5733288"/>
            <a:ext cx="10972800" cy="576072"/>
          </a:xfrm>
          <a:prstGeom prst="rect">
            <a:avLst/>
          </a:prstGeom>
          <a:solidFill>
            <a:srgbClr val="F0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" y="5733288"/>
            <a:ext cx="50292" cy="576072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806440"/>
            <a:ext cx="10561320" cy="438912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900" b="1" lang="ja-JP">
                <a:solidFill>
                  <a:srgbClr val="087F8C"/>
                </a:solidFill>
                <a:latin typeface="IPAexGothic"/>
                <a:ea typeface="IPAexGothic"/>
              </a:rPr>
              <a:t>R/F/D/B4：初回込み最大4回・成功時停止／Pは別プロンプトの独立1回生成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2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10881360" cy="27432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0" lang="ja-JP">
                <a:solidFill>
                  <a:srgbClr val="087F8C"/>
                </a:solidFill>
                <a:latin typeface="IPAexGothic"/>
                <a:ea typeface="IPAexGothic"/>
              </a:rPr>
              <a:t>WiNF 2026  /  実験設計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18520" cy="8229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900" b="1" lang="ja-JP">
                <a:solidFill>
                  <a:srgbClr val="172D44"/>
                </a:solidFill>
                <a:latin typeface="IPAexGothic"/>
                <a:ea typeface="IPAexGothic"/>
              </a:rPr>
              <a:t>対象は1,000初期組．出典を揃えて比較する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81912"/>
            <a:ext cx="10972800" cy="16459"/>
          </a:xfrm>
          <a:prstGeom prst="rect">
            <a:avLst/>
          </a:prstGeom>
          <a:solidFill>
            <a:srgbClr val="DC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698480" cy="22860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00" b="0" lang="ja-JP">
                <a:solidFill>
                  <a:srgbClr val="52677B"/>
                </a:solidFill>
                <a:latin typeface="IPAexGothic"/>
                <a:ea typeface="IPAexGothic"/>
              </a:rPr>
              <a:t>[3] 現行到達経路 ／ [4] B4追加対照（10/22固定）  ｜  2026-10-28更新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28232"/>
            <a:ext cx="594360" cy="32004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0" lang="ja-JP">
                <a:solidFill>
                  <a:srgbClr val="52677B"/>
                </a:solidFill>
                <a:latin typeface="IPAexGothic"/>
                <a:ea typeface="IPAexGothic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10698480" cy="64008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800" b="1" lang="ja-JP">
                <a:solidFill>
                  <a:srgbClr val="203348"/>
                </a:solidFill>
                <a:latin typeface="IPAexGothic"/>
                <a:ea typeface="IPAexGothic"/>
              </a:rPr>
              <a:t>5モデル × 10タスク × seed 0〜19 ＝ 1,000初期組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7240" y="2761488"/>
          <a:ext cx="1046988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7543800"/>
              </a:tblGrid>
              <a:tr h="48463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IPAexGothic"/>
                          <a:ea typeface="IPAexGothic"/>
                        </a:rPr>
                        <a:t>項目</a:t>
                      </a:r>
                    </a:p>
                  </a:txBody>
                  <a:tcPr marL="109728" marR="109728" marT="22860" marB="22860" anchor="ctr">
                    <a:solidFill>
                      <a:srgbClr val="17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IPAexGothic"/>
                          <a:ea typeface="IPAexGothic"/>
                        </a:rPr>
                        <a:t>設定・範囲</a:t>
                      </a:r>
                    </a:p>
                  </a:txBody>
                  <a:tcPr marL="109728" marR="109728" marT="22860" marB="22860" anchor="ctr">
                    <a:solidFill>
                      <a:srgbClr val="172D44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モデル</a:t>
                      </a:r>
                    </a:p>
                  </a:txBody>
                  <a:tcPr marL="109728" marR="109728" marT="22860" marB="2286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Q4 / G4 / Q9 / C7 / G3（正式タグは補足）</a:t>
                      </a:r>
                    </a:p>
                  </a:txBody>
                  <a:tcPr marL="109728" marR="109728" marT="22860" marB="22860" anchor="ctr">
                    <a:solidFill>
                      <a:srgbClr val="F0F5F8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タスク</a:t>
                      </a:r>
                    </a:p>
                  </a:txBody>
                  <a:tcPr marL="109728" marR="10972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Bell・GHZ・DJ 2種・BV・Grover・QFT・IQFT・QPE・Ansatz</a:t>
                      </a:r>
                    </a:p>
                  </a:txBody>
                  <a:tcPr marL="109728" marR="109728" marT="22860" marB="22860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生成設定</a:t>
                      </a:r>
                    </a:p>
                  </a:txBody>
                  <a:tcPr marL="109728" marR="109728" marT="22860" marB="2286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temperature 0.7 ／ 1要求の生成上限 1,024 tokens</a:t>
                      </a:r>
                    </a:p>
                  </a:txBody>
                  <a:tcPr marL="109728" marR="109728" marT="22860" marB="22860" anchor="ctr">
                    <a:solidFill>
                      <a:srgbClr val="F0F5F8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集計対象</a:t>
                      </a:r>
                    </a:p>
                  </a:txBody>
                  <a:tcPr marL="109728" marR="10972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B/R/F/D/P 計5,000条件 ＋ 同じ初期組への追加対照B4</a:t>
                      </a:r>
                    </a:p>
                  </a:txBody>
                  <a:tcPr marL="109728" marR="109728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94360" y="5733288"/>
            <a:ext cx="10972800" cy="576072"/>
          </a:xfrm>
          <a:prstGeom prst="rect">
            <a:avLst/>
          </a:prstGeom>
          <a:solidFill>
            <a:srgbClr val="F0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5733288"/>
            <a:ext cx="50292" cy="576072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806440"/>
            <a:ext cx="10561320" cy="438912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000" b="1" lang="ja-JP">
                <a:solidFill>
                  <a:srgbClr val="087F8C"/>
                </a:solidFill>
                <a:latin typeface="IPAexGothic"/>
                <a:ea typeface="IPAexGothic"/>
              </a:rPr>
              <a:t>保存記録＋必要な部分追試293ケースを反映．全件新生成の実験ではない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2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10881360" cy="27432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0" lang="ja-JP">
                <a:solidFill>
                  <a:srgbClr val="087F8C"/>
                </a:solidFill>
                <a:latin typeface="IPAexGothic"/>
                <a:ea typeface="IPAexGothic"/>
              </a:rPr>
              <a:t>WiNF 2026  /  成功と指標の定義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18520" cy="8229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900" b="1" lang="ja-JP">
                <a:solidFill>
                  <a:srgbClr val="172D44"/>
                </a:solidFill>
                <a:latin typeface="IPAexGothic"/>
                <a:ea typeface="IPAexGothic"/>
              </a:rPr>
              <a:t>救済率の分母は，初期失敗545組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81912"/>
            <a:ext cx="10972800" cy="16459"/>
          </a:xfrm>
          <a:prstGeom prst="rect">
            <a:avLst/>
          </a:prstGeom>
          <a:solidFill>
            <a:srgbClr val="DC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698480" cy="22860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00" b="0" lang="ja-JP">
                <a:solidFill>
                  <a:srgbClr val="52677B"/>
                </a:solidFill>
                <a:latin typeface="IPAexGothic"/>
                <a:ea typeface="IPAexGothic"/>
              </a:rPr>
              <a:t>[3] 現行到達経路：10/16固定  ｜  2026-10-28更新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28232"/>
            <a:ext cx="594360" cy="32004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0" lang="ja-JP">
                <a:solidFill>
                  <a:srgbClr val="52677B"/>
                </a:solidFill>
                <a:latin typeface="IPAexGothic"/>
                <a:ea typeface="IPAexGothic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865376"/>
            <a:ext cx="5120640" cy="2084831"/>
          </a:xfrm>
          <a:prstGeom prst="rect">
            <a:avLst/>
          </a:prstGeom>
          <a:solidFill>
            <a:srgbClr val="F0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02536"/>
            <a:ext cx="4754879" cy="3657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000" b="1" lang="ja-JP">
                <a:solidFill>
                  <a:srgbClr val="087F8C"/>
                </a:solidFill>
                <a:latin typeface="IPAexGothic"/>
                <a:ea typeface="IPAexGothic"/>
              </a:rPr>
              <a:t>初期成功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68880"/>
            <a:ext cx="4754879" cy="68580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3700" b="1" lang="ja-JP">
                <a:solidFill>
                  <a:srgbClr val="087F8C"/>
                </a:solidFill>
                <a:latin typeface="IPAexGothic"/>
                <a:ea typeface="IPAexGothic"/>
              </a:rPr>
              <a:t>455組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328416"/>
            <a:ext cx="4754879" cy="45720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800" b="0" lang="ja-JP">
                <a:solidFill>
                  <a:srgbClr val="203348"/>
                </a:solidFill>
                <a:latin typeface="IPAexGothic"/>
                <a:ea typeface="IPAexGothic"/>
              </a:rPr>
              <a:t>無修正で保持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865376"/>
            <a:ext cx="5120640" cy="2084831"/>
          </a:xfrm>
          <a:prstGeom prst="rect">
            <a:avLst/>
          </a:prstGeom>
          <a:solidFill>
            <a:srgbClr val="F0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2002536"/>
            <a:ext cx="4754879" cy="3657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000" b="1" lang="ja-JP">
                <a:solidFill>
                  <a:srgbClr val="BE641C"/>
                </a:solidFill>
                <a:latin typeface="IPAexGothic"/>
                <a:ea typeface="IPAexGothic"/>
              </a:rPr>
              <a:t>初期失敗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468880"/>
            <a:ext cx="4754879" cy="68580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3700" b="1" lang="ja-JP">
                <a:solidFill>
                  <a:srgbClr val="BE641C"/>
                </a:solidFill>
                <a:latin typeface="IPAexGothic"/>
                <a:ea typeface="IPAexGothic"/>
              </a:rPr>
              <a:t>545組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328416"/>
            <a:ext cx="4754879" cy="45720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800" b="0" lang="ja-JP">
                <a:solidFill>
                  <a:srgbClr val="203348"/>
                </a:solidFill>
                <a:latin typeface="IPAexGothic"/>
                <a:ea typeface="IPAexGothic"/>
              </a:rPr>
              <a:t>修正・再生成の対象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4251960"/>
            <a:ext cx="10515600" cy="64008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400" b="1" lang="ja-JP">
                <a:solidFill>
                  <a:srgbClr val="203348"/>
                </a:solidFill>
                <a:latin typeface="IPAexGothic"/>
                <a:ea typeface="IPAexGothic"/>
              </a:rPr>
              <a:t>救済率 ＝ 初期失敗から修正で最終成功となった組数 ／ 545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5020056"/>
            <a:ext cx="10515600" cy="50292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200" b="0" lang="ja-JP">
                <a:solidFill>
                  <a:srgbClr val="203348"/>
                </a:solidFill>
                <a:latin typeface="IPAexGothic"/>
                <a:ea typeface="IPAexGothic"/>
              </a:rPr>
              <a:t>主L3：読込み・構築・指定入力の出力一致 ＋ 所定の構造要件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5733288"/>
            <a:ext cx="10972800" cy="576072"/>
          </a:xfrm>
          <a:prstGeom prst="rect">
            <a:avLst/>
          </a:prstGeom>
          <a:solidFill>
            <a:srgbClr val="F0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" y="5733288"/>
            <a:ext cx="50292" cy="576072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806440"/>
            <a:ext cx="10561320" cy="438912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300" b="1" lang="ja-JP">
                <a:solidFill>
                  <a:srgbClr val="087F8C"/>
                </a:solidFill>
                <a:latin typeface="IPAexGothic"/>
                <a:ea typeface="IPAexGothic"/>
              </a:rPr>
              <a:t>主L3は全入力のアルゴリズム同値性を保証しない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2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10881360" cy="27432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0" lang="ja-JP">
                <a:solidFill>
                  <a:srgbClr val="087F8C"/>
                </a:solidFill>
                <a:latin typeface="IPAexGothic"/>
                <a:ea typeface="IPAexGothic"/>
              </a:rPr>
              <a:t>WiNF 2026  /  主要結果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18520" cy="8229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900" b="1" lang="ja-JP">
                <a:solidFill>
                  <a:srgbClr val="172D44"/>
                </a:solidFill>
                <a:latin typeface="IPAexGothic"/>
                <a:ea typeface="IPAexGothic"/>
              </a:rPr>
              <a:t>FとDは初期失敗の約3分の1を救済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81912"/>
            <a:ext cx="10972800" cy="16459"/>
          </a:xfrm>
          <a:prstGeom prst="rect">
            <a:avLst/>
          </a:prstGeom>
          <a:solidFill>
            <a:srgbClr val="DC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698480" cy="22860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00" b="0" lang="ja-JP">
                <a:solidFill>
                  <a:srgbClr val="52677B"/>
                </a:solidFill>
                <a:latin typeface="IPAexGothic"/>
                <a:ea typeface="IPAexGothic"/>
              </a:rPr>
              <a:t>[3] 現行到達経路：10/16固定  ｜  2026-10-28更新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28232"/>
            <a:ext cx="594360" cy="32004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0" lang="ja-JP">
                <a:solidFill>
                  <a:srgbClr val="52677B"/>
                </a:solidFill>
                <a:latin typeface="IPAexGothic"/>
                <a:ea typeface="IPAexGothic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3566160" cy="50292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200" b="0" lang="ja-JP">
                <a:solidFill>
                  <a:srgbClr val="203348"/>
                </a:solidFill>
                <a:latin typeface="IPAexGothic"/>
                <a:ea typeface="IPAexGothic"/>
              </a:rPr>
              <a:t>R  自己見直し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359152"/>
            <a:ext cx="4617720" cy="329184"/>
          </a:xfrm>
          <a:prstGeom prst="rect">
            <a:avLst/>
          </a:prstGeom>
          <a:solidFill>
            <a:srgbClr val="F0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2359152"/>
            <a:ext cx="1626793" cy="329184"/>
          </a:xfrm>
          <a:prstGeom prst="rect">
            <a:avLst/>
          </a:prstGeom>
          <a:solidFill>
            <a:srgbClr val="718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71432" y="2267712"/>
            <a:ext cx="2148840" cy="566928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300" b="1" lang="ja-JP">
                <a:solidFill>
                  <a:srgbClr val="718398"/>
                </a:solidFill>
                <a:latin typeface="IPAexGothic"/>
                <a:ea typeface="IPAexGothic"/>
              </a:rPr>
              <a:t>96組  17.6%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00400"/>
            <a:ext cx="3566160" cy="50292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200" b="0" lang="ja-JP">
                <a:solidFill>
                  <a:srgbClr val="203348"/>
                </a:solidFill>
                <a:latin typeface="IPAexGothic"/>
                <a:ea typeface="IPAexGothic"/>
              </a:rPr>
              <a:t>F  実行結果提示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3273552"/>
            <a:ext cx="4617720" cy="329184"/>
          </a:xfrm>
          <a:prstGeom prst="rect">
            <a:avLst/>
          </a:prstGeom>
          <a:solidFill>
            <a:srgbClr val="F0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3273552"/>
            <a:ext cx="3101074" cy="329184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71432" y="3182112"/>
            <a:ext cx="2148840" cy="566928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300" b="1" lang="ja-JP">
                <a:solidFill>
                  <a:srgbClr val="087F8C"/>
                </a:solidFill>
                <a:latin typeface="IPAexGothic"/>
                <a:ea typeface="IPAexGothic"/>
              </a:rPr>
              <a:t>183組  33.6%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114800"/>
            <a:ext cx="3566160" cy="50292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200" b="0" lang="ja-JP">
                <a:solidFill>
                  <a:srgbClr val="203348"/>
                </a:solidFill>
                <a:latin typeface="IPAexGothic"/>
                <a:ea typeface="IPAexGothic"/>
              </a:rPr>
              <a:t>D  自己デバッグ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4187952"/>
            <a:ext cx="4617720" cy="329184"/>
          </a:xfrm>
          <a:prstGeom prst="rect">
            <a:avLst/>
          </a:prstGeom>
          <a:solidFill>
            <a:srgbClr val="F0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0" y="4187952"/>
            <a:ext cx="3050237" cy="329184"/>
          </a:xfrm>
          <a:prstGeom prst="rect">
            <a:avLst/>
          </a:prstGeom>
          <a:solidFill>
            <a:srgbClr val="BE6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71432" y="4096512"/>
            <a:ext cx="2148840" cy="566928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300" b="1" lang="ja-JP">
                <a:solidFill>
                  <a:srgbClr val="BE641C"/>
                </a:solidFill>
                <a:latin typeface="IPAexGothic"/>
                <a:ea typeface="IPAexGothic"/>
              </a:rPr>
              <a:t>180組  33.0%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736592"/>
            <a:ext cx="868680" cy="32004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0" lang="ja-JP">
                <a:solidFill>
                  <a:srgbClr val="52677B"/>
                </a:solidFill>
                <a:latin typeface="IPAexGothic"/>
                <a:ea typeface="IPAexGothic"/>
              </a:rPr>
              <a:t>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6540" y="4736592"/>
            <a:ext cx="868680" cy="32004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0" lang="ja-JP">
                <a:solidFill>
                  <a:srgbClr val="52677B"/>
                </a:solidFill>
                <a:latin typeface="IPAexGothic"/>
                <a:ea typeface="IPAexGothic"/>
              </a:rPr>
              <a:t>25%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4736592"/>
            <a:ext cx="868680" cy="32004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0" lang="ja-JP">
                <a:solidFill>
                  <a:srgbClr val="52677B"/>
                </a:solidFill>
                <a:latin typeface="IPAexGothic"/>
                <a:ea typeface="IPAexGothic"/>
              </a:rPr>
              <a:t>50%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376672"/>
            <a:ext cx="10698480" cy="292608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700" b="0" lang="ja-JP">
                <a:solidFill>
                  <a:srgbClr val="52677B"/>
                </a:solidFill>
                <a:latin typeface="IPAexGothic"/>
                <a:ea typeface="IPAexGothic"/>
              </a:rPr>
              <a:t>共通分母：初期失敗545組／初期成功455組の無修正保持は救済数に含めない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5733288"/>
            <a:ext cx="10972800" cy="576072"/>
          </a:xfrm>
          <a:prstGeom prst="rect">
            <a:avLst/>
          </a:prstGeom>
          <a:solidFill>
            <a:srgbClr val="F0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" y="5733288"/>
            <a:ext cx="50292" cy="576072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806440"/>
            <a:ext cx="10561320" cy="438912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200" b="1" lang="ja-JP">
                <a:solidFill>
                  <a:srgbClr val="087F8C"/>
                </a:solidFill>
                <a:latin typeface="IPAexGothic"/>
                <a:ea typeface="IPAexGothic"/>
              </a:rPr>
              <a:t>FとDの全体差は3組．同じ対象を救済しているか？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2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10881360" cy="27432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0" lang="ja-JP">
                <a:solidFill>
                  <a:srgbClr val="087F8C"/>
                </a:solidFill>
                <a:latin typeface="IPAexGothic"/>
                <a:ea typeface="IPAexGothic"/>
              </a:rPr>
              <a:t>WiNF 2026  /  救済対象の対応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18520" cy="8229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900" b="1" lang="ja-JP">
                <a:solidFill>
                  <a:srgbClr val="172D44"/>
                </a:solidFill>
                <a:latin typeface="IPAexGothic"/>
                <a:ea typeface="IPAexGothic"/>
              </a:rPr>
              <a:t>救済数が近くても，救済する対象は異なる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81912"/>
            <a:ext cx="10972800" cy="16459"/>
          </a:xfrm>
          <a:prstGeom prst="rect">
            <a:avLst/>
          </a:prstGeom>
          <a:solidFill>
            <a:srgbClr val="DC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698480" cy="22860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00" b="0" lang="ja-JP">
                <a:solidFill>
                  <a:srgbClr val="52677B"/>
                </a:solidFill>
                <a:latin typeface="IPAexGothic"/>
                <a:ea typeface="IPAexGothic"/>
              </a:rPr>
              <a:t>[3] 現行到達経路：10/16固定  ｜  2026-10-28更新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28232"/>
            <a:ext cx="594360" cy="32004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0" lang="ja-JP">
                <a:solidFill>
                  <a:srgbClr val="52677B"/>
                </a:solidFill>
                <a:latin typeface="IPAexGothic"/>
                <a:ea typeface="IPAexGothic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3154680" cy="2084831"/>
          </a:xfrm>
          <a:prstGeom prst="rect">
            <a:avLst/>
          </a:prstGeom>
          <a:solidFill>
            <a:srgbClr val="F0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57400"/>
            <a:ext cx="2788920" cy="3657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000" b="1" lang="ja-JP">
                <a:solidFill>
                  <a:srgbClr val="087F8C"/>
                </a:solidFill>
                <a:latin typeface="IPAexGothic"/>
                <a:ea typeface="IPAexGothic"/>
              </a:rPr>
              <a:t>Fのみ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23744"/>
            <a:ext cx="2788920" cy="68580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3700" b="1" lang="ja-JP">
                <a:solidFill>
                  <a:srgbClr val="087F8C"/>
                </a:solidFill>
                <a:latin typeface="IPAexGothic"/>
                <a:ea typeface="IPAexGothic"/>
              </a:rPr>
              <a:t>43組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383280"/>
            <a:ext cx="2788920" cy="45720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800" b="0" lang="ja-JP">
                <a:solidFill>
                  <a:srgbClr val="203348"/>
                </a:solidFill>
                <a:latin typeface="IPAexGothic"/>
                <a:ea typeface="IPAexGothic"/>
              </a:rPr>
              <a:t>初期失敗545組の内訳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26280" y="1920240"/>
            <a:ext cx="3154680" cy="2084831"/>
          </a:xfrm>
          <a:prstGeom prst="rect">
            <a:avLst/>
          </a:prstGeom>
          <a:solidFill>
            <a:srgbClr val="F0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2057400"/>
            <a:ext cx="2788920" cy="3657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000" b="1" lang="ja-JP">
                <a:solidFill>
                  <a:srgbClr val="172D44"/>
                </a:solidFill>
                <a:latin typeface="IPAexGothic"/>
                <a:ea typeface="IPAexGothic"/>
              </a:rPr>
              <a:t>F/D共通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523744"/>
            <a:ext cx="2788920" cy="68580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3700" b="1" lang="ja-JP">
                <a:solidFill>
                  <a:srgbClr val="172D44"/>
                </a:solidFill>
                <a:latin typeface="IPAexGothic"/>
                <a:ea typeface="IPAexGothic"/>
              </a:rPr>
              <a:t>140組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3383280"/>
            <a:ext cx="2788920" cy="45720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800" b="0" lang="ja-JP">
                <a:solidFill>
                  <a:srgbClr val="203348"/>
                </a:solidFill>
                <a:latin typeface="IPAexGothic"/>
                <a:ea typeface="IPAexGothic"/>
              </a:rPr>
              <a:t>初期失敗545組の内訳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20" y="1920240"/>
            <a:ext cx="3154680" cy="2084831"/>
          </a:xfrm>
          <a:prstGeom prst="rect">
            <a:avLst/>
          </a:prstGeom>
          <a:solidFill>
            <a:srgbClr val="F0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2057400"/>
            <a:ext cx="2788920" cy="3657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000" b="1" lang="ja-JP">
                <a:solidFill>
                  <a:srgbClr val="BE641C"/>
                </a:solidFill>
                <a:latin typeface="IPAexGothic"/>
                <a:ea typeface="IPAexGothic"/>
              </a:rPr>
              <a:t>Dのみ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523744"/>
            <a:ext cx="2788920" cy="68580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3700" b="1" lang="ja-JP">
                <a:solidFill>
                  <a:srgbClr val="BE641C"/>
                </a:solidFill>
                <a:latin typeface="IPAexGothic"/>
                <a:ea typeface="IPAexGothic"/>
              </a:rPr>
              <a:t>40組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383280"/>
            <a:ext cx="2788920" cy="45720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800" b="0" lang="ja-JP">
                <a:solidFill>
                  <a:srgbClr val="203348"/>
                </a:solidFill>
                <a:latin typeface="IPAexGothic"/>
                <a:ea typeface="IPAexGothic"/>
              </a:rPr>
              <a:t>初期失敗545組の内訳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434840"/>
            <a:ext cx="10515600" cy="64008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400" b="1" lang="ja-JP">
                <a:solidFill>
                  <a:srgbClr val="203348"/>
                </a:solidFill>
                <a:latin typeface="IPAexGothic"/>
                <a:ea typeface="IPAexGothic"/>
              </a:rPr>
              <a:t>片側救済83組：両条件166履歴・398修正遷移を静的に確認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074920"/>
            <a:ext cx="10515600" cy="45720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000" b="0" lang="ja-JP">
                <a:solidFill>
                  <a:srgbClr val="203348"/>
                </a:solidFill>
                <a:latin typeface="IPAexGothic"/>
                <a:ea typeface="IPAexGothic"/>
              </a:rPr>
              <a:t>双方未救済322組／複数変更が同時に起きるため，救済原因は分離できない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5733288"/>
            <a:ext cx="10972800" cy="576072"/>
          </a:xfrm>
          <a:prstGeom prst="rect">
            <a:avLst/>
          </a:prstGeom>
          <a:solidFill>
            <a:srgbClr val="F0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5733288"/>
            <a:ext cx="50292" cy="576072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806440"/>
            <a:ext cx="10561320" cy="438912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100" b="1" lang="ja-JP">
                <a:solidFill>
                  <a:srgbClr val="087F8C"/>
                </a:solidFill>
                <a:latin typeface="IPAexGothic"/>
                <a:ea typeface="IPAexGothic"/>
              </a:rPr>
              <a:t>和集合223組は事後的な集合．実行前の選択方策の成功率ではない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2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10881360" cy="27432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0" lang="ja-JP">
                <a:solidFill>
                  <a:srgbClr val="087F8C"/>
                </a:solidFill>
                <a:latin typeface="IPAexGothic"/>
                <a:ea typeface="IPAexGothic"/>
              </a:rPr>
              <a:t>WiNF 2026  /  失敗類型と介入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18520" cy="8229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900" b="1" lang="ja-JP">
                <a:solidFill>
                  <a:srgbClr val="172D44"/>
                </a:solidFill>
                <a:latin typeface="IPAexGothic"/>
                <a:ea typeface="IPAexGothic"/>
              </a:rPr>
              <a:t>初期失敗類型によって，FとDの関係が変わる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81912"/>
            <a:ext cx="10972800" cy="16459"/>
          </a:xfrm>
          <a:prstGeom prst="rect">
            <a:avLst/>
          </a:prstGeom>
          <a:solidFill>
            <a:srgbClr val="DC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698480" cy="22860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00" b="0" lang="ja-JP">
                <a:solidFill>
                  <a:srgbClr val="52677B"/>
                </a:solidFill>
                <a:latin typeface="IPAexGothic"/>
                <a:ea typeface="IPAexGothic"/>
              </a:rPr>
              <a:t>[3] 現行到達経路：10/16固定  ｜  2026-10-28更新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28232"/>
            <a:ext cx="594360" cy="32004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0" lang="ja-JP">
                <a:solidFill>
                  <a:srgbClr val="52677B"/>
                </a:solidFill>
                <a:latin typeface="IPAexGothic"/>
                <a:ea typeface="IPAexGothic"/>
              </a:rPr>
              <a:t>08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1938528"/>
          <a:ext cx="1042416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1280160"/>
                <a:gridCol w="1965960"/>
                <a:gridCol w="1965960"/>
                <a:gridCol w="2240280"/>
              </a:tblGrid>
              <a:tr h="69494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IPAexGothic"/>
                          <a:ea typeface="IPAexGothic"/>
                        </a:rPr>
                        <a:t>初期失敗類型</a:t>
                      </a:r>
                    </a:p>
                  </a:txBody>
                  <a:tcPr marL="109728" marR="109728" marT="22860" marB="22860" anchor="ctr">
                    <a:solidFill>
                      <a:srgbClr val="17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IPAexGothic"/>
                          <a:ea typeface="IPAexGothic"/>
                        </a:rPr>
                        <a:t>分母</a:t>
                      </a:r>
                    </a:p>
                  </a:txBody>
                  <a:tcPr marL="109728" marR="109728" marT="22860" marB="22860" anchor="ctr">
                    <a:solidFill>
                      <a:srgbClr val="17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IPAexGothic"/>
                          <a:ea typeface="IPAexGothic"/>
                        </a:rPr>
                        <a:t>R</a:t>
                      </a:r>
                    </a:p>
                  </a:txBody>
                  <a:tcPr marL="109728" marR="109728" marT="22860" marB="22860" anchor="ctr">
                    <a:solidFill>
                      <a:srgbClr val="17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IPAexGothic"/>
                          <a:ea typeface="IPAexGothic"/>
                        </a:rPr>
                        <a:t>F</a:t>
                      </a:r>
                    </a:p>
                  </a:txBody>
                  <a:tcPr marL="109728" marR="109728" marT="22860" marB="22860" anchor="ctr">
                    <a:solidFill>
                      <a:srgbClr val="17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IPAexGothic"/>
                          <a:ea typeface="IPAexGothic"/>
                        </a:rPr>
                        <a:t>D</a:t>
                      </a:r>
                    </a:p>
                  </a:txBody>
                  <a:tcPr marL="109728" marR="109728" marT="22860" marB="22860" anchor="ctr">
                    <a:solidFill>
                      <a:srgbClr val="172D44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import失敗</a:t>
                      </a:r>
                    </a:p>
                  </a:txBody>
                  <a:tcPr marL="109728" marR="109728" marT="22860" marB="2286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271</a:t>
                      </a:r>
                    </a:p>
                  </a:txBody>
                  <a:tcPr marL="109728" marR="109728" marT="22860" marB="2286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24 (8.9%)</a:t>
                      </a:r>
                    </a:p>
                  </a:txBody>
                  <a:tcPr marL="109728" marR="109728" marT="22860" marB="2286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58 (21.4%)</a:t>
                      </a:r>
                    </a:p>
                  </a:txBody>
                  <a:tcPr marL="109728" marR="109728" marT="22860" marB="2286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72 (26.6%)</a:t>
                      </a:r>
                    </a:p>
                  </a:txBody>
                  <a:tcPr marL="109728" marR="109728" marT="22860" marB="22860" anchor="ctr">
                    <a:solidFill>
                      <a:srgbClr val="F0F5F8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回路構築失敗</a:t>
                      </a:r>
                    </a:p>
                  </a:txBody>
                  <a:tcPr marL="109728" marR="10972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126</a:t>
                      </a:r>
                    </a:p>
                  </a:txBody>
                  <a:tcPr marL="109728" marR="10972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32 (25.4%)</a:t>
                      </a:r>
                    </a:p>
                  </a:txBody>
                  <a:tcPr marL="109728" marR="10972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76 (60.3%)</a:t>
                      </a:r>
                    </a:p>
                  </a:txBody>
                  <a:tcPr marL="109728" marR="10972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68 (54.0%)</a:t>
                      </a:r>
                    </a:p>
                  </a:txBody>
                  <a:tcPr marL="109728" marR="109728" marT="22860" marB="22860" anchor="ctr"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出力不一致</a:t>
                      </a:r>
                    </a:p>
                  </a:txBody>
                  <a:tcPr marL="109728" marR="109728" marT="22860" marB="2286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65</a:t>
                      </a:r>
                    </a:p>
                  </a:txBody>
                  <a:tcPr marL="109728" marR="109728" marT="22860" marB="2286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16 (24.6%)</a:t>
                      </a:r>
                    </a:p>
                  </a:txBody>
                  <a:tcPr marL="109728" marR="109728" marT="22860" marB="2286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24 (36.9%)</a:t>
                      </a:r>
                    </a:p>
                  </a:txBody>
                  <a:tcPr marL="109728" marR="109728" marT="22860" marB="2286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18 (27.7%)</a:t>
                      </a:r>
                    </a:p>
                  </a:txBody>
                  <a:tcPr marL="109728" marR="109728" marT="22860" marB="22860" anchor="ctr">
                    <a:solidFill>
                      <a:srgbClr val="F0F5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41248" y="4965192"/>
            <a:ext cx="10515600" cy="50292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200" b="0" lang="ja-JP">
                <a:solidFill>
                  <a:srgbClr val="203348"/>
                </a:solidFill>
                <a:latin typeface="IPAexGothic"/>
                <a:ea typeface="IPAexGothic"/>
              </a:rPr>
              <a:t>類型は介入前で固定／モデル・タスクの構成と関連する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5733288"/>
            <a:ext cx="10972800" cy="576072"/>
          </a:xfrm>
          <a:prstGeom prst="rect">
            <a:avLst/>
          </a:prstGeom>
          <a:solidFill>
            <a:srgbClr val="F0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5733288"/>
            <a:ext cx="50292" cy="576072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806440"/>
            <a:ext cx="10561320" cy="438912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300" b="1" lang="ja-JP">
                <a:solidFill>
                  <a:srgbClr val="087F8C"/>
                </a:solidFill>
                <a:latin typeface="IPAexGothic"/>
                <a:ea typeface="IPAexGothic"/>
              </a:rPr>
              <a:t>カタログでは全体率だけでなく，対象類型と分母を示す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2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10881360" cy="27432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0" lang="ja-JP">
                <a:solidFill>
                  <a:srgbClr val="087F8C"/>
                </a:solidFill>
                <a:latin typeface="IPAexGothic"/>
                <a:ea typeface="IPAexGothic"/>
              </a:rPr>
              <a:t>WiNF 2026  /  追加対照B4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18520" cy="8229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900" b="1" lang="ja-JP">
                <a:solidFill>
                  <a:srgbClr val="172D44"/>
                </a:solidFill>
                <a:latin typeface="IPAexGothic"/>
                <a:ea typeface="IPAexGothic"/>
              </a:rPr>
              <a:t>独立再生成B4では217組が追加成功した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81912"/>
            <a:ext cx="10972800" cy="16459"/>
          </a:xfrm>
          <a:prstGeom prst="rect">
            <a:avLst/>
          </a:prstGeom>
          <a:solidFill>
            <a:srgbClr val="DC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698480" cy="22860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00" b="0" lang="ja-JP">
                <a:solidFill>
                  <a:srgbClr val="52677B"/>
                </a:solidFill>
                <a:latin typeface="IPAexGothic"/>
                <a:ea typeface="IPAexGothic"/>
              </a:rPr>
              <a:t>[3] R/F/D再構成値 ／ [4] B4完了集計  ｜  2026-10-28更新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28232"/>
            <a:ext cx="594360" cy="32004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0" lang="ja-JP">
                <a:solidFill>
                  <a:srgbClr val="52677B"/>
                </a:solidFill>
                <a:latin typeface="IPAexGothic"/>
                <a:ea typeface="IPAexGothic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3566160" cy="50292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200" b="0" lang="ja-JP">
                <a:solidFill>
                  <a:srgbClr val="203348"/>
                </a:solidFill>
                <a:latin typeface="IPAexGothic"/>
                <a:ea typeface="IPAexGothic"/>
              </a:rPr>
              <a:t>R  自己見直し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947672"/>
            <a:ext cx="4617720" cy="329184"/>
          </a:xfrm>
          <a:prstGeom prst="rect">
            <a:avLst/>
          </a:prstGeom>
          <a:solidFill>
            <a:srgbClr val="F0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947672"/>
            <a:ext cx="1626793" cy="329184"/>
          </a:xfrm>
          <a:prstGeom prst="rect">
            <a:avLst/>
          </a:prstGeom>
          <a:solidFill>
            <a:srgbClr val="718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71432" y="1856231"/>
            <a:ext cx="2148840" cy="566928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300" b="1" lang="ja-JP">
                <a:solidFill>
                  <a:srgbClr val="718398"/>
                </a:solidFill>
                <a:latin typeface="IPAexGothic"/>
                <a:ea typeface="IPAexGothic"/>
              </a:rPr>
              <a:t>96組  17.6%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606039"/>
            <a:ext cx="3566160" cy="50292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200" b="0" lang="ja-JP">
                <a:solidFill>
                  <a:srgbClr val="203348"/>
                </a:solidFill>
                <a:latin typeface="IPAexGothic"/>
                <a:ea typeface="IPAexGothic"/>
              </a:rPr>
              <a:t>F  実行結果提示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2679191"/>
            <a:ext cx="4617720" cy="329184"/>
          </a:xfrm>
          <a:prstGeom prst="rect">
            <a:avLst/>
          </a:prstGeom>
          <a:solidFill>
            <a:srgbClr val="F0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2679191"/>
            <a:ext cx="3101074" cy="329184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71432" y="2587751"/>
            <a:ext cx="2148840" cy="566928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300" b="1" lang="ja-JP">
                <a:solidFill>
                  <a:srgbClr val="087F8C"/>
                </a:solidFill>
                <a:latin typeface="IPAexGothic"/>
                <a:ea typeface="IPAexGothic"/>
              </a:rPr>
              <a:t>183組  33.6%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337560"/>
            <a:ext cx="3566160" cy="50292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200" b="0" lang="ja-JP">
                <a:solidFill>
                  <a:srgbClr val="203348"/>
                </a:solidFill>
                <a:latin typeface="IPAexGothic"/>
                <a:ea typeface="IPAexGothic"/>
              </a:rPr>
              <a:t>D  自己デバッグ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3410712"/>
            <a:ext cx="4617720" cy="329184"/>
          </a:xfrm>
          <a:prstGeom prst="rect">
            <a:avLst/>
          </a:prstGeom>
          <a:solidFill>
            <a:srgbClr val="F0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0" y="3410712"/>
            <a:ext cx="3050237" cy="329184"/>
          </a:xfrm>
          <a:prstGeom prst="rect">
            <a:avLst/>
          </a:prstGeom>
          <a:solidFill>
            <a:srgbClr val="BE6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71432" y="3319272"/>
            <a:ext cx="2148840" cy="566928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300" b="1" lang="ja-JP">
                <a:solidFill>
                  <a:srgbClr val="BE641C"/>
                </a:solidFill>
                <a:latin typeface="IPAexGothic"/>
                <a:ea typeface="IPAexGothic"/>
              </a:rPr>
              <a:t>180組  33.0%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069080"/>
            <a:ext cx="3566160" cy="50292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200" b="0" lang="ja-JP">
                <a:solidFill>
                  <a:srgbClr val="203348"/>
                </a:solidFill>
                <a:latin typeface="IPAexGothic"/>
                <a:ea typeface="IPAexGothic"/>
              </a:rPr>
              <a:t>B4  独立再生成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4142232"/>
            <a:ext cx="4617720" cy="329184"/>
          </a:xfrm>
          <a:prstGeom prst="rect">
            <a:avLst/>
          </a:prstGeom>
          <a:solidFill>
            <a:srgbClr val="F0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4142232"/>
            <a:ext cx="3677230" cy="329184"/>
          </a:xfrm>
          <a:prstGeom prst="rect">
            <a:avLst/>
          </a:prstGeom>
          <a:solidFill>
            <a:srgbClr val="755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71432" y="4050792"/>
            <a:ext cx="2148840" cy="566928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300" b="1" lang="ja-JP">
                <a:solidFill>
                  <a:srgbClr val="7553A6"/>
                </a:solidFill>
                <a:latin typeface="IPAexGothic"/>
                <a:ea typeface="IPAexGothic"/>
              </a:rPr>
              <a:t>217組  39.8%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690872"/>
            <a:ext cx="868680" cy="32004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0" lang="ja-JP">
                <a:solidFill>
                  <a:srgbClr val="52677B"/>
                </a:solidFill>
                <a:latin typeface="IPAexGothic"/>
                <a:ea typeface="IPAexGothic"/>
              </a:rPr>
              <a:t>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6540" y="4690872"/>
            <a:ext cx="868680" cy="32004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0" lang="ja-JP">
                <a:solidFill>
                  <a:srgbClr val="52677B"/>
                </a:solidFill>
                <a:latin typeface="IPAexGothic"/>
                <a:ea typeface="IPAexGothic"/>
              </a:rPr>
              <a:t>25%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4690872"/>
            <a:ext cx="868680" cy="32004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0" lang="ja-JP">
                <a:solidFill>
                  <a:srgbClr val="52677B"/>
                </a:solidFill>
                <a:latin typeface="IPAexGothic"/>
                <a:ea typeface="IPAexGothic"/>
              </a:rPr>
              <a:t>50%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294376"/>
            <a:ext cx="10515600" cy="32004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800" b="0" lang="ja-JP">
                <a:solidFill>
                  <a:srgbClr val="203348"/>
                </a:solidFill>
                <a:latin typeface="IPAexGothic"/>
                <a:ea typeface="IPAexGothic"/>
              </a:rPr>
              <a:t>B4最終成功 672/1,000組（67.2%）／欠落・重複・予定外0，sanity検証成功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5733288"/>
            <a:ext cx="10972800" cy="576072"/>
          </a:xfrm>
          <a:prstGeom prst="rect">
            <a:avLst/>
          </a:prstGeom>
          <a:solidFill>
            <a:srgbClr val="F0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4360" y="5733288"/>
            <a:ext cx="50292" cy="576072"/>
          </a:xfrm>
          <a:prstGeom prst="rect">
            <a:avLst/>
          </a:prstGeom>
          <a:solidFill>
            <a:srgbClr val="755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806440"/>
            <a:ext cx="10561320" cy="438912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100" b="1" lang="ja-JP">
                <a:solidFill>
                  <a:srgbClr val="7553A6"/>
                </a:solidFill>
                <a:latin typeface="IPAexGothic"/>
                <a:ea typeface="IPAexGothic"/>
              </a:rPr>
              <a:t>同じ上限4回でも，入力情報・実要求数・出典・実行時期が異なる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2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10881360" cy="27432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0" lang="ja-JP">
                <a:solidFill>
                  <a:srgbClr val="087F8C"/>
                </a:solidFill>
                <a:latin typeface="IPAexGothic"/>
                <a:ea typeface="IPAexGothic"/>
              </a:rPr>
              <a:t>WiNF 2026  /  追加計算コスト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18520" cy="8229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900" b="1" lang="ja-JP">
                <a:solidFill>
                  <a:srgbClr val="172D44"/>
                </a:solidFill>
                <a:latin typeface="IPAexGothic"/>
                <a:ea typeface="IPAexGothic"/>
              </a:rPr>
              <a:t>追加消費を含めると，独立再生成も比較候補になる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81912"/>
            <a:ext cx="10972800" cy="16459"/>
          </a:xfrm>
          <a:prstGeom prst="rect">
            <a:avLst/>
          </a:prstGeom>
          <a:solidFill>
            <a:srgbClr val="DC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698480" cy="22860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00" b="0" lang="ja-JP">
                <a:solidFill>
                  <a:srgbClr val="52677B"/>
                </a:solidFill>
                <a:latin typeface="IPAexGothic"/>
                <a:ea typeface="IPAexGothic"/>
              </a:rPr>
              <a:t>[3] R/F/D再構成値 ／ [4] B4実測記録  ｜  2026-10-28更新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28232"/>
            <a:ext cx="594360" cy="32004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0" lang="ja-JP">
                <a:solidFill>
                  <a:srgbClr val="52677B"/>
                </a:solidFill>
                <a:latin typeface="IPAexGothic"/>
                <a:ea typeface="IPAexGothic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2057400" cy="50292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200" b="0" lang="ja-JP">
                <a:solidFill>
                  <a:srgbClr val="203348"/>
                </a:solidFill>
                <a:latin typeface="IPAexGothic"/>
                <a:ea typeface="IPAexGothic"/>
              </a:rPr>
              <a:t>R</a:t>
            </a:r>
          </a:p>
        </p:txBody>
      </p:sp>
      <p:sp>
        <p:nvSpPr>
          <p:cNvPr id="9" name="Rectangle 8"/>
          <p:cNvSpPr/>
          <p:nvPr/>
        </p:nvSpPr>
        <p:spPr>
          <a:xfrm>
            <a:off x="3063240" y="1993392"/>
            <a:ext cx="6035040" cy="329184"/>
          </a:xfrm>
          <a:prstGeom prst="rect">
            <a:avLst/>
          </a:prstGeom>
          <a:solidFill>
            <a:srgbClr val="F0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63240" y="1993392"/>
            <a:ext cx="5688795" cy="329184"/>
          </a:xfrm>
          <a:prstGeom prst="rect">
            <a:avLst/>
          </a:prstGeom>
          <a:solidFill>
            <a:srgbClr val="718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62872" y="1901952"/>
            <a:ext cx="2148840" cy="566928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300" b="1" lang="ja-JP">
                <a:solidFill>
                  <a:srgbClr val="718398"/>
                </a:solidFill>
                <a:latin typeface="IPAexGothic"/>
                <a:ea typeface="IPAexGothic"/>
              </a:rPr>
              <a:t>18,852.6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642616"/>
            <a:ext cx="2057400" cy="50292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200" b="0" lang="ja-JP">
                <a:solidFill>
                  <a:srgbClr val="203348"/>
                </a:solidFill>
                <a:latin typeface="IPAexGothic"/>
                <a:ea typeface="IPAexGothic"/>
              </a:rPr>
              <a:t>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63240" y="2715768"/>
            <a:ext cx="6035040" cy="329184"/>
          </a:xfrm>
          <a:prstGeom prst="rect">
            <a:avLst/>
          </a:prstGeom>
          <a:solidFill>
            <a:srgbClr val="F0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63240" y="2715768"/>
            <a:ext cx="2816493" cy="329184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62872" y="2624328"/>
            <a:ext cx="2148840" cy="566928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300" b="1" lang="ja-JP">
                <a:solidFill>
                  <a:srgbClr val="087F8C"/>
                </a:solidFill>
                <a:latin typeface="IPAexGothic"/>
                <a:ea typeface="IPAexGothic"/>
              </a:rPr>
              <a:t>9,333.8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364992"/>
            <a:ext cx="2057400" cy="50292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200" b="0" lang="ja-JP">
                <a:solidFill>
                  <a:srgbClr val="203348"/>
                </a:solidFill>
                <a:latin typeface="IPAexGothic"/>
                <a:ea typeface="IPAexGothic"/>
              </a:rPr>
              <a:t>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63240" y="3438144"/>
            <a:ext cx="6035040" cy="329184"/>
          </a:xfrm>
          <a:prstGeom prst="rect">
            <a:avLst/>
          </a:prstGeom>
          <a:solidFill>
            <a:srgbClr val="F0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63240" y="3438144"/>
            <a:ext cx="3312200" cy="329184"/>
          </a:xfrm>
          <a:prstGeom prst="rect">
            <a:avLst/>
          </a:prstGeom>
          <a:solidFill>
            <a:srgbClr val="BE6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2872" y="3346704"/>
            <a:ext cx="2148840" cy="566928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300" b="1" lang="ja-JP">
                <a:solidFill>
                  <a:srgbClr val="BE641C"/>
                </a:solidFill>
                <a:latin typeface="IPAexGothic"/>
                <a:ea typeface="IPAexGothic"/>
              </a:rPr>
              <a:t>10,976.6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087368"/>
            <a:ext cx="2057400" cy="50292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200" b="0" lang="ja-JP">
                <a:solidFill>
                  <a:srgbClr val="203348"/>
                </a:solidFill>
                <a:latin typeface="IPAexGothic"/>
                <a:ea typeface="IPAexGothic"/>
              </a:rPr>
              <a:t>B4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63240" y="4160520"/>
            <a:ext cx="6035040" cy="329184"/>
          </a:xfrm>
          <a:prstGeom prst="rect">
            <a:avLst/>
          </a:prstGeom>
          <a:solidFill>
            <a:srgbClr val="F0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63240" y="4160520"/>
            <a:ext cx="1384742" cy="329184"/>
          </a:xfrm>
          <a:prstGeom prst="rect">
            <a:avLst/>
          </a:prstGeom>
          <a:solidFill>
            <a:srgbClr val="755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62872" y="4069080"/>
            <a:ext cx="2148840" cy="566928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300" b="1" lang="ja-JP">
                <a:solidFill>
                  <a:srgbClr val="7553A6"/>
                </a:solidFill>
                <a:latin typeface="IPAexGothic"/>
                <a:ea typeface="IPAexGothic"/>
              </a:rPr>
              <a:t>4,589.0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709160"/>
            <a:ext cx="868680" cy="32004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0" lang="ja-JP">
                <a:solidFill>
                  <a:srgbClr val="52677B"/>
                </a:solidFill>
                <a:latin typeface="IPAexGothic"/>
                <a:ea typeface="IPAexGothic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4709160"/>
            <a:ext cx="868680" cy="32004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0" lang="ja-JP">
                <a:solidFill>
                  <a:srgbClr val="52677B"/>
                </a:solidFill>
                <a:latin typeface="IPAexGothic"/>
                <a:ea typeface="IPAexGothic"/>
              </a:rPr>
              <a:t>10000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4709160"/>
            <a:ext cx="868680" cy="32004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0" lang="ja-JP">
                <a:solidFill>
                  <a:srgbClr val="52677B"/>
                </a:solidFill>
                <a:latin typeface="IPAexGothic"/>
                <a:ea typeface="IPAexGothic"/>
              </a:rPr>
              <a:t>20000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303520"/>
            <a:ext cx="10515600" cy="32004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900" b="0" lang="ja-JP">
                <a:solidFill>
                  <a:srgbClr val="203348"/>
                </a:solidFill>
                <a:latin typeface="IPAexGothic"/>
                <a:ea typeface="IPAexGothic"/>
              </a:rPr>
              <a:t>指標：追加tokens／追加成功．共有初期を除き，未成功例への消費も含む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5733288"/>
            <a:ext cx="10972800" cy="576072"/>
          </a:xfrm>
          <a:prstGeom prst="rect">
            <a:avLst/>
          </a:prstGeom>
          <a:solidFill>
            <a:srgbClr val="F0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4360" y="5733288"/>
            <a:ext cx="50292" cy="576072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806440"/>
            <a:ext cx="10561320" cy="438912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100" b="1" lang="ja-JP">
                <a:solidFill>
                  <a:srgbClr val="087F8C"/>
                </a:solidFill>
                <a:latin typeface="IPAexGothic"/>
                <a:ea typeface="IPAexGothic"/>
              </a:rPr>
              <a:t>R/F/Dは再構成経路の計算値．金銭費用・実測の費用削減ではない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2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10881360" cy="27432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0" lang="ja-JP">
                <a:solidFill>
                  <a:srgbClr val="087F8C"/>
                </a:solidFill>
                <a:latin typeface="IPAexGothic"/>
                <a:ea typeface="IPAexGothic"/>
              </a:rPr>
              <a:t>WiNF 2026  /  修正回数と停止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18520" cy="8229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900" b="1" lang="ja-JP">
                <a:solidFill>
                  <a:srgbClr val="172D44"/>
                </a:solidFill>
                <a:latin typeface="IPAexGothic"/>
                <a:ea typeface="IPAexGothic"/>
              </a:rPr>
              <a:t>3回目にも救済がある．停止回数も検討対象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81912"/>
            <a:ext cx="10972800" cy="16459"/>
          </a:xfrm>
          <a:prstGeom prst="rect">
            <a:avLst/>
          </a:prstGeom>
          <a:solidFill>
            <a:srgbClr val="DC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698480" cy="22860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00" b="0" lang="ja-JP">
                <a:solidFill>
                  <a:srgbClr val="52677B"/>
                </a:solidFill>
                <a:latin typeface="IPAexGothic"/>
                <a:ea typeface="IPAexGothic"/>
              </a:rPr>
              <a:t>[3] 現行到達経路：10/16固定  ｜  2026-10-28更新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28232"/>
            <a:ext cx="594360" cy="32004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0" lang="ja-JP">
                <a:solidFill>
                  <a:srgbClr val="52677B"/>
                </a:solidFill>
                <a:latin typeface="IPAexGothic"/>
                <a:ea typeface="IPAexGothic"/>
              </a:rPr>
              <a:t>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2057400"/>
          <a:ext cx="104241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00200"/>
                <a:gridCol w="1600200"/>
                <a:gridCol w="1600200"/>
                <a:gridCol w="3611880"/>
              </a:tblGrid>
              <a:tr h="6858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200" b="1">
                          <a:solidFill>
                            <a:srgbClr val="FFFFFF"/>
                          </a:solidFill>
                          <a:latin typeface="IPAexGothic"/>
                          <a:ea typeface="IPAexGothic"/>
                        </a:rPr>
                        <a:t>修正条件</a:t>
                      </a:r>
                    </a:p>
                  </a:txBody>
                  <a:tcPr marL="109728" marR="109728" marT="22860" marB="22860" anchor="ctr">
                    <a:solidFill>
                      <a:srgbClr val="17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200" b="1">
                          <a:solidFill>
                            <a:srgbClr val="FFFFFF"/>
                          </a:solidFill>
                          <a:latin typeface="IPAexGothic"/>
                          <a:ea typeface="IPAexGothic"/>
                        </a:rPr>
                        <a:t>1回目</a:t>
                      </a:r>
                    </a:p>
                  </a:txBody>
                  <a:tcPr marL="109728" marR="109728" marT="22860" marB="22860" anchor="ctr">
                    <a:solidFill>
                      <a:srgbClr val="17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200" b="1">
                          <a:solidFill>
                            <a:srgbClr val="FFFFFF"/>
                          </a:solidFill>
                          <a:latin typeface="IPAexGothic"/>
                          <a:ea typeface="IPAexGothic"/>
                        </a:rPr>
                        <a:t>2回目</a:t>
                      </a:r>
                    </a:p>
                  </a:txBody>
                  <a:tcPr marL="109728" marR="109728" marT="22860" marB="22860" anchor="ctr">
                    <a:solidFill>
                      <a:srgbClr val="17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200" b="1">
                          <a:solidFill>
                            <a:srgbClr val="FFFFFF"/>
                          </a:solidFill>
                          <a:latin typeface="IPAexGothic"/>
                          <a:ea typeface="IPAexGothic"/>
                        </a:rPr>
                        <a:t>3回目</a:t>
                      </a:r>
                    </a:p>
                  </a:txBody>
                  <a:tcPr marL="109728" marR="109728" marT="22860" marB="22860" anchor="ctr">
                    <a:solidFill>
                      <a:srgbClr val="17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200" b="1">
                          <a:solidFill>
                            <a:srgbClr val="FFFFFF"/>
                          </a:solidFill>
                          <a:latin typeface="IPAexGothic"/>
                          <a:ea typeface="IPAexGothic"/>
                        </a:rPr>
                        <a:t>2回打切りで失う救済</a:t>
                      </a:r>
                    </a:p>
                  </a:txBody>
                  <a:tcPr marL="109728" marR="109728" marT="22860" marB="22860" anchor="ctr">
                    <a:solidFill>
                      <a:srgbClr val="172D4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2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R</a:t>
                      </a:r>
                    </a:p>
                  </a:txBody>
                  <a:tcPr marL="109728" marR="109728" marT="22860" marB="2286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2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57組</a:t>
                      </a:r>
                    </a:p>
                  </a:txBody>
                  <a:tcPr marL="109728" marR="109728" marT="22860" marB="2286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2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20組</a:t>
                      </a:r>
                    </a:p>
                  </a:txBody>
                  <a:tcPr marL="109728" marR="109728" marT="22860" marB="2286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2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19組</a:t>
                      </a:r>
                    </a:p>
                  </a:txBody>
                  <a:tcPr marL="109728" marR="109728" marT="22860" marB="2286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2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19.8%</a:t>
                      </a:r>
                    </a:p>
                  </a:txBody>
                  <a:tcPr marL="109728" marR="109728" marT="22860" marB="22860" anchor="ctr">
                    <a:solidFill>
                      <a:srgbClr val="F0F5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2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F</a:t>
                      </a:r>
                    </a:p>
                  </a:txBody>
                  <a:tcPr marL="109728" marR="10972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2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112組</a:t>
                      </a:r>
                    </a:p>
                  </a:txBody>
                  <a:tcPr marL="109728" marR="10972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2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43組</a:t>
                      </a:r>
                    </a:p>
                  </a:txBody>
                  <a:tcPr marL="109728" marR="10972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2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28組</a:t>
                      </a:r>
                    </a:p>
                  </a:txBody>
                  <a:tcPr marL="109728" marR="10972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2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15.3%</a:t>
                      </a:r>
                    </a:p>
                  </a:txBody>
                  <a:tcPr marL="109728" marR="109728" marT="22860" marB="2286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2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D</a:t>
                      </a:r>
                    </a:p>
                  </a:txBody>
                  <a:tcPr marL="109728" marR="109728" marT="22860" marB="2286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2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108組</a:t>
                      </a:r>
                    </a:p>
                  </a:txBody>
                  <a:tcPr marL="109728" marR="109728" marT="22860" marB="2286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2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39組</a:t>
                      </a:r>
                    </a:p>
                  </a:txBody>
                  <a:tcPr marL="109728" marR="109728" marT="22860" marB="2286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2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33組</a:t>
                      </a:r>
                    </a:p>
                  </a:txBody>
                  <a:tcPr marL="109728" marR="109728" marT="22860" marB="2286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2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18.3%</a:t>
                      </a:r>
                    </a:p>
                  </a:txBody>
                  <a:tcPr marL="109728" marR="109728" marT="22860" marB="22860" anchor="ctr">
                    <a:solidFill>
                      <a:srgbClr val="F0F5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41248" y="5047488"/>
            <a:ext cx="10515600" cy="45720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000" b="0" lang="ja-JP">
                <a:solidFill>
                  <a:srgbClr val="203348"/>
                </a:solidFill>
                <a:latin typeface="IPAexGothic"/>
                <a:ea typeface="IPAexGothic"/>
              </a:rPr>
              <a:t>失う割合の分母は「3回までに救済した組数」．初期失敗数とは異なる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5733288"/>
            <a:ext cx="10972800" cy="576072"/>
          </a:xfrm>
          <a:prstGeom prst="rect">
            <a:avLst/>
          </a:prstGeom>
          <a:solidFill>
            <a:srgbClr val="F0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5733288"/>
            <a:ext cx="50292" cy="576072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806440"/>
            <a:ext cx="10561320" cy="438912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300" b="1" lang="ja-JP">
                <a:solidFill>
                  <a:srgbClr val="087F8C"/>
                </a:solidFill>
                <a:latin typeface="IPAexGothic"/>
                <a:ea typeface="IPAexGothic"/>
              </a:rPr>
              <a:t>同じ観測履歴を打ち切った比較．上限別独立実験ではない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2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10881360" cy="27432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0" lang="ja-JP">
                <a:solidFill>
                  <a:srgbClr val="087F8C"/>
                </a:solidFill>
                <a:latin typeface="IPAexGothic"/>
                <a:ea typeface="IPAexGothic"/>
              </a:rPr>
              <a:t>WiNF 2026  /  考察と次のアクション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18520" cy="8229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900" b="1" lang="ja-JP">
                <a:solidFill>
                  <a:srgbClr val="172D44"/>
                </a:solidFill>
                <a:latin typeface="IPAexGothic"/>
                <a:ea typeface="IPAexGothic"/>
              </a:rPr>
              <a:t>介入カタログには，適用範囲と限界を併記する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81912"/>
            <a:ext cx="10972800" cy="16459"/>
          </a:xfrm>
          <a:prstGeom prst="rect">
            <a:avLst/>
          </a:prstGeom>
          <a:solidFill>
            <a:srgbClr val="DC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698480" cy="22860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00" b="0" lang="ja-JP">
                <a:solidFill>
                  <a:srgbClr val="52677B"/>
                </a:solidFill>
                <a:latin typeface="IPAexGothic"/>
                <a:ea typeface="IPAexGothic"/>
              </a:rPr>
              <a:t>[3] 現行到達経路：10/16固定  ｜  2026-10-28更新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28232"/>
            <a:ext cx="594360" cy="32004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0" lang="ja-JP">
                <a:solidFill>
                  <a:srgbClr val="52677B"/>
                </a:solidFill>
                <a:latin typeface="IPAexGothic"/>
                <a:ea typeface="IPAexGothic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914400" cy="5943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3000" b="1" lang="ja-JP">
                <a:solidFill>
                  <a:srgbClr val="087F8C"/>
                </a:solidFill>
                <a:latin typeface="IPAexGothic"/>
                <a:ea typeface="IPAexGothi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920240"/>
            <a:ext cx="3063240" cy="54864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500" b="1" lang="ja-JP">
                <a:solidFill>
                  <a:srgbClr val="203348"/>
                </a:solidFill>
                <a:latin typeface="IPAexGothic"/>
                <a:ea typeface="IPAexGothic"/>
              </a:rPr>
              <a:t>何に使うか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956816"/>
            <a:ext cx="6400800" cy="5943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100" b="0" lang="ja-JP">
                <a:solidFill>
                  <a:srgbClr val="203348"/>
                </a:solidFill>
                <a:latin typeface="IPAexGothic"/>
                <a:ea typeface="IPAexGothic"/>
              </a:rPr>
              <a:t>初期失敗類型・モデル・分母・成功対象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71800"/>
            <a:ext cx="914400" cy="5943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3000" b="1" lang="ja-JP">
                <a:solidFill>
                  <a:srgbClr val="087F8C"/>
                </a:solidFill>
                <a:latin typeface="IPAexGothic"/>
                <a:ea typeface="IPAexGothi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971800"/>
            <a:ext cx="3063240" cy="54864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500" b="1" lang="ja-JP">
                <a:solidFill>
                  <a:srgbClr val="203348"/>
                </a:solidFill>
                <a:latin typeface="IPAexGothic"/>
                <a:ea typeface="IPAexGothic"/>
              </a:rPr>
              <a:t>どれだけ使うか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3008376"/>
            <a:ext cx="6400800" cy="5943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100" b="0" lang="ja-JP">
                <a:solidFill>
                  <a:srgbClr val="203348"/>
                </a:solidFill>
                <a:latin typeface="IPAexGothic"/>
                <a:ea typeface="IPAexGothic"/>
              </a:rPr>
              <a:t>未成功消費を含むtokens・要求数・停止回数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023360"/>
            <a:ext cx="914400" cy="5943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3000" b="1" lang="ja-JP">
                <a:solidFill>
                  <a:srgbClr val="087F8C"/>
                </a:solidFill>
                <a:latin typeface="IPAexGothic"/>
                <a:ea typeface="IPAexGothic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023360"/>
            <a:ext cx="3063240" cy="54864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500" b="1" lang="ja-JP">
                <a:solidFill>
                  <a:srgbClr val="203348"/>
                </a:solidFill>
                <a:latin typeface="IPAexGothic"/>
                <a:ea typeface="IPAexGothic"/>
              </a:rPr>
              <a:t>どこまで分かるか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4059936"/>
            <a:ext cx="6400800" cy="5943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100" b="0" lang="ja-JP">
                <a:solidFill>
                  <a:srgbClr val="203348"/>
                </a:solidFill>
                <a:latin typeface="IPAexGothic"/>
                <a:ea typeface="IPAexGothic"/>
              </a:rPr>
              <a:t>指定入力の主L3・出典差・共有初期とタスク依存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5733288"/>
            <a:ext cx="10972800" cy="576072"/>
          </a:xfrm>
          <a:prstGeom prst="rect">
            <a:avLst/>
          </a:prstGeom>
          <a:solidFill>
            <a:srgbClr val="F0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5733288"/>
            <a:ext cx="50292" cy="576072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806440"/>
            <a:ext cx="10561320" cy="438912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200" b="1" lang="ja-JP">
                <a:solidFill>
                  <a:srgbClr val="087F8C"/>
                </a:solidFill>
                <a:latin typeface="IPAexGothic"/>
                <a:ea typeface="IPAexGothic"/>
              </a:rPr>
              <a:t>次：選択・停止方策を事前固定し，別seed・タスクで検証する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2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10881360" cy="27432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0" lang="ja-JP">
                <a:solidFill>
                  <a:srgbClr val="087F8C"/>
                </a:solidFill>
                <a:latin typeface="IPAexGothic"/>
                <a:ea typeface="IPAexGothic"/>
              </a:rPr>
              <a:t>WiNF 2026  /  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18520" cy="8229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900" b="1" lang="ja-JP">
                <a:solidFill>
                  <a:srgbClr val="172D44"/>
                </a:solidFill>
                <a:latin typeface="IPAexGothic"/>
                <a:ea typeface="IPAexGothic"/>
              </a:rPr>
              <a:t>救済率に加え，「何を救済するか」を比較する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81912"/>
            <a:ext cx="10972800" cy="16459"/>
          </a:xfrm>
          <a:prstGeom prst="rect">
            <a:avLst/>
          </a:prstGeom>
          <a:solidFill>
            <a:srgbClr val="DC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698480" cy="22860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00" b="0" lang="ja-JP">
                <a:solidFill>
                  <a:srgbClr val="52677B"/>
                </a:solidFill>
                <a:latin typeface="IPAexGothic"/>
                <a:ea typeface="IPAexGothic"/>
              </a:rPr>
              <a:t>[3][4] 検証済み固定集計  ｜  2026-10-28更新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28232"/>
            <a:ext cx="594360" cy="32004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0" lang="ja-JP">
                <a:solidFill>
                  <a:srgbClr val="52677B"/>
                </a:solidFill>
                <a:latin typeface="IPAexGothic"/>
                <a:ea typeface="IPAexGothic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65376"/>
            <a:ext cx="640080" cy="64008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3400" b="1" lang="ja-JP">
                <a:solidFill>
                  <a:srgbClr val="087F8C"/>
                </a:solidFill>
                <a:latin typeface="IPAexGothic"/>
                <a:ea typeface="IPAex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865376"/>
            <a:ext cx="9692640" cy="54864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700" b="1" lang="ja-JP">
                <a:solidFill>
                  <a:srgbClr val="203348"/>
                </a:solidFill>
                <a:latin typeface="IPAexGothic"/>
                <a:ea typeface="IPAexGothic"/>
              </a:rPr>
              <a:t>F 183組・D 180組を救済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459736"/>
            <a:ext cx="9692640" cy="45720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100" b="0" lang="ja-JP">
                <a:solidFill>
                  <a:srgbClr val="203348"/>
                </a:solidFill>
                <a:latin typeface="IPAexGothic"/>
                <a:ea typeface="IPAexGothic"/>
              </a:rPr>
              <a:t>全体率は近くても，片側救済83組の対象が異なる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72384"/>
            <a:ext cx="640080" cy="64008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3400" b="1" lang="ja-JP">
                <a:solidFill>
                  <a:srgbClr val="087F8C"/>
                </a:solidFill>
                <a:latin typeface="IPAexGothic"/>
                <a:ea typeface="IPAex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072384"/>
            <a:ext cx="9692640" cy="54864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700" b="1" lang="ja-JP">
                <a:solidFill>
                  <a:srgbClr val="203348"/>
                </a:solidFill>
                <a:latin typeface="IPAexGothic"/>
                <a:ea typeface="IPAexGothic"/>
              </a:rPr>
              <a:t>独立再生成B4は217組が追加成功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666744"/>
            <a:ext cx="9692640" cy="45720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100" b="0" lang="ja-JP">
                <a:solidFill>
                  <a:srgbClr val="203348"/>
                </a:solidFill>
                <a:latin typeface="IPAexGothic"/>
                <a:ea typeface="IPAexGothic"/>
              </a:rPr>
              <a:t>修正と再生成を，入力情報・出典差も含めて比較する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279392"/>
            <a:ext cx="640080" cy="64008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3400" b="1" lang="ja-JP">
                <a:solidFill>
                  <a:srgbClr val="087F8C"/>
                </a:solidFill>
                <a:latin typeface="IPAexGothic"/>
                <a:ea typeface="IPAexGothi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279392"/>
            <a:ext cx="9692640" cy="54864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700" b="1" lang="ja-JP">
                <a:solidFill>
                  <a:srgbClr val="203348"/>
                </a:solidFill>
                <a:latin typeface="IPAexGothic"/>
                <a:ea typeface="IPAexGothic"/>
              </a:rPr>
              <a:t>分母・対象・追加消費をカタログに記録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873752"/>
            <a:ext cx="9692640" cy="45720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100" b="0" lang="ja-JP">
                <a:solidFill>
                  <a:srgbClr val="203348"/>
                </a:solidFill>
                <a:latin typeface="IPAexGothic"/>
                <a:ea typeface="IPAexGothic"/>
              </a:rPr>
              <a:t>選択・停止方策を固定して別条件で検証する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5733288"/>
            <a:ext cx="10972800" cy="576072"/>
          </a:xfrm>
          <a:prstGeom prst="rect">
            <a:avLst/>
          </a:prstGeom>
          <a:solidFill>
            <a:srgbClr val="F0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5733288"/>
            <a:ext cx="50292" cy="576072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806440"/>
            <a:ext cx="10561320" cy="438912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900" b="1" lang="ja-JP">
                <a:solidFill>
                  <a:srgbClr val="087F8C"/>
                </a:solidFill>
                <a:latin typeface="IPAexGothic"/>
                <a:ea typeface="IPAexGothic"/>
              </a:rPr>
              <a:t>今回の対象での観測であり，一般的優劣・因果効果・統計的有意差は主張しない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2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10881360" cy="27432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0" lang="ja-JP">
                <a:solidFill>
                  <a:srgbClr val="087F8C"/>
                </a:solidFill>
                <a:latin typeface="IPAexGothic"/>
                <a:ea typeface="IPAexGothic"/>
              </a:rPr>
              <a:t>WiNF 2026  /  モデル別内訳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18520" cy="8229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900" b="1" lang="ja-JP">
                <a:solidFill>
                  <a:srgbClr val="172D44"/>
                </a:solidFill>
                <a:latin typeface="IPAexGothic"/>
                <a:ea typeface="IPAexGothic"/>
              </a:rPr>
              <a:t>補足A　モデル別の初期失敗と追加成功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81912"/>
            <a:ext cx="10972800" cy="16459"/>
          </a:xfrm>
          <a:prstGeom prst="rect">
            <a:avLst/>
          </a:prstGeom>
          <a:solidFill>
            <a:srgbClr val="DC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698480" cy="22860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00" b="0" lang="ja-JP">
                <a:solidFill>
                  <a:srgbClr val="52677B"/>
                </a:solidFill>
                <a:latin typeface="IPAexGothic"/>
                <a:ea typeface="IPAexGothic"/>
              </a:rPr>
              <a:t>[3] R/F/D ／ [4] B4  ｜  2026-10-28更新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28232"/>
            <a:ext cx="594360" cy="32004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0" lang="ja-JP">
                <a:solidFill>
                  <a:srgbClr val="52677B"/>
                </a:solidFill>
                <a:latin typeface="IPAexGothic"/>
                <a:ea typeface="IPAexGothic"/>
              </a:rPr>
              <a:t>14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938528"/>
          <a:ext cx="10268712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73168"/>
                <a:gridCol w="1399032"/>
                <a:gridCol w="1024128"/>
                <a:gridCol w="1024128"/>
                <a:gridCol w="1024128"/>
                <a:gridCol w="1024128"/>
              </a:tblGrid>
              <a:tr h="5029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IPAexGothic"/>
                          <a:ea typeface="IPAexGothic"/>
                        </a:rPr>
                        <a:t>略号／正式タグ</a:t>
                      </a:r>
                    </a:p>
                  </a:txBody>
                  <a:tcPr marL="109728" marR="109728" marT="22860" marB="22860" anchor="ctr">
                    <a:solidFill>
                      <a:srgbClr val="17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IPAexGothic"/>
                          <a:ea typeface="IPAexGothic"/>
                        </a:rPr>
                        <a:t>初期失敗</a:t>
                      </a:r>
                    </a:p>
                  </a:txBody>
                  <a:tcPr marL="109728" marR="109728" marT="22860" marB="22860" anchor="ctr">
                    <a:solidFill>
                      <a:srgbClr val="17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IPAexGothic"/>
                          <a:ea typeface="IPAexGothic"/>
                        </a:rPr>
                        <a:t>R</a:t>
                      </a:r>
                    </a:p>
                  </a:txBody>
                  <a:tcPr marL="109728" marR="109728" marT="22860" marB="22860" anchor="ctr">
                    <a:solidFill>
                      <a:srgbClr val="17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IPAexGothic"/>
                          <a:ea typeface="IPAexGothic"/>
                        </a:rPr>
                        <a:t>F</a:t>
                      </a:r>
                    </a:p>
                  </a:txBody>
                  <a:tcPr marL="109728" marR="109728" marT="22860" marB="22860" anchor="ctr">
                    <a:solidFill>
                      <a:srgbClr val="17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IPAexGothic"/>
                          <a:ea typeface="IPAexGothic"/>
                        </a:rPr>
                        <a:t>D</a:t>
                      </a:r>
                    </a:p>
                  </a:txBody>
                  <a:tcPr marL="109728" marR="109728" marT="22860" marB="22860" anchor="ctr">
                    <a:solidFill>
                      <a:srgbClr val="17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IPAexGothic"/>
                          <a:ea typeface="IPAexGothic"/>
                        </a:rPr>
                        <a:t>B4</a:t>
                      </a:r>
                    </a:p>
                  </a:txBody>
                  <a:tcPr marL="109728" marR="109728" marT="22860" marB="22860" anchor="ctr">
                    <a:solidFill>
                      <a:srgbClr val="172D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G3  gemma3:4b</a:t>
                      </a:r>
                    </a:p>
                  </a:txBody>
                  <a:tcPr marL="109728" marR="109728" marT="22860" marB="2286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190</a:t>
                      </a:r>
                    </a:p>
                  </a:txBody>
                  <a:tcPr marL="109728" marR="109728" marT="22860" marB="2286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5</a:t>
                      </a:r>
                    </a:p>
                  </a:txBody>
                  <a:tcPr marL="109728" marR="109728" marT="22860" marB="2286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1</a:t>
                      </a:r>
                    </a:p>
                  </a:txBody>
                  <a:tcPr marL="109728" marR="109728" marT="22860" marB="2286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1</a:t>
                      </a:r>
                    </a:p>
                  </a:txBody>
                  <a:tcPr marL="109728" marR="109728" marT="22860" marB="2286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16</a:t>
                      </a:r>
                    </a:p>
                  </a:txBody>
                  <a:tcPr marL="109728" marR="109728" marT="22860" marB="22860" anchor="ctr">
                    <a:solidFill>
                      <a:srgbClr val="F0F5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G4  gemma4:e4b-it-qat</a:t>
                      </a:r>
                    </a:p>
                  </a:txBody>
                  <a:tcPr marL="109728" marR="10972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62</a:t>
                      </a:r>
                    </a:p>
                  </a:txBody>
                  <a:tcPr marL="109728" marR="10972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30</a:t>
                      </a:r>
                    </a:p>
                  </a:txBody>
                  <a:tcPr marL="109728" marR="10972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48</a:t>
                      </a:r>
                    </a:p>
                  </a:txBody>
                  <a:tcPr marL="109728" marR="10972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38</a:t>
                      </a:r>
                    </a:p>
                  </a:txBody>
                  <a:tcPr marL="109728" marR="10972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51</a:t>
                      </a:r>
                    </a:p>
                  </a:txBody>
                  <a:tcPr marL="109728" marR="109728" marT="22860" marB="2286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C7  qwen2.5-coder:7b</a:t>
                      </a:r>
                    </a:p>
                  </a:txBody>
                  <a:tcPr marL="109728" marR="109728" marT="22860" marB="2286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65</a:t>
                      </a:r>
                    </a:p>
                  </a:txBody>
                  <a:tcPr marL="109728" marR="109728" marT="22860" marB="2286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15</a:t>
                      </a:r>
                    </a:p>
                  </a:txBody>
                  <a:tcPr marL="109728" marR="109728" marT="22860" marB="2286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23</a:t>
                      </a:r>
                    </a:p>
                  </a:txBody>
                  <a:tcPr marL="109728" marR="109728" marT="22860" marB="2286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23</a:t>
                      </a:r>
                    </a:p>
                  </a:txBody>
                  <a:tcPr marL="109728" marR="109728" marT="22860" marB="2286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47</a:t>
                      </a:r>
                    </a:p>
                  </a:txBody>
                  <a:tcPr marL="109728" marR="109728" marT="22860" marB="22860" anchor="ctr">
                    <a:solidFill>
                      <a:srgbClr val="F0F5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Q4  qwen3.5:4b</a:t>
                      </a:r>
                    </a:p>
                  </a:txBody>
                  <a:tcPr marL="109728" marR="10972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162</a:t>
                      </a:r>
                    </a:p>
                  </a:txBody>
                  <a:tcPr marL="109728" marR="10972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31</a:t>
                      </a:r>
                    </a:p>
                  </a:txBody>
                  <a:tcPr marL="109728" marR="10972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78</a:t>
                      </a:r>
                    </a:p>
                  </a:txBody>
                  <a:tcPr marL="109728" marR="10972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90</a:t>
                      </a:r>
                    </a:p>
                  </a:txBody>
                  <a:tcPr marL="109728" marR="10972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66</a:t>
                      </a:r>
                    </a:p>
                  </a:txBody>
                  <a:tcPr marL="109728" marR="109728" marT="22860" marB="2286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Q9  qwen3.5:9b</a:t>
                      </a:r>
                    </a:p>
                  </a:txBody>
                  <a:tcPr marL="109728" marR="109728" marT="22860" marB="2286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66</a:t>
                      </a:r>
                    </a:p>
                  </a:txBody>
                  <a:tcPr marL="109728" marR="109728" marT="22860" marB="2286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15</a:t>
                      </a:r>
                    </a:p>
                  </a:txBody>
                  <a:tcPr marL="109728" marR="109728" marT="22860" marB="2286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33</a:t>
                      </a:r>
                    </a:p>
                  </a:txBody>
                  <a:tcPr marL="109728" marR="109728" marT="22860" marB="2286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28</a:t>
                      </a:r>
                    </a:p>
                  </a:txBody>
                  <a:tcPr marL="109728" marR="109728" marT="22860" marB="2286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37</a:t>
                      </a:r>
                    </a:p>
                  </a:txBody>
                  <a:tcPr marL="109728" marR="109728" marT="22860" marB="22860" anchor="ctr">
                    <a:solidFill>
                      <a:srgbClr val="F0F5F8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94360" y="5733288"/>
            <a:ext cx="10972800" cy="576072"/>
          </a:xfrm>
          <a:prstGeom prst="rect">
            <a:avLst/>
          </a:prstGeom>
          <a:solidFill>
            <a:srgbClr val="F0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5733288"/>
            <a:ext cx="50292" cy="576072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806440"/>
            <a:ext cx="10561320" cy="438912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200" b="1" lang="ja-JP">
                <a:solidFill>
                  <a:srgbClr val="087F8C"/>
                </a:solidFill>
                <a:latin typeface="IPAexGothic"/>
                <a:ea typeface="IPAexGothic"/>
              </a:rPr>
              <a:t>モデルごとの失敗分母が異なる．モデル一般の優劣は断定しない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2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10881360" cy="27432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0" lang="ja-JP">
                <a:solidFill>
                  <a:srgbClr val="087F8C"/>
                </a:solidFill>
                <a:latin typeface="IPAexGothic"/>
                <a:ea typeface="IPAexGothic"/>
              </a:rPr>
              <a:t>WiNF 2026  /  対応比較とP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18520" cy="8229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900" b="1" lang="ja-JP">
                <a:solidFill>
                  <a:srgbClr val="172D44"/>
                </a:solidFill>
                <a:latin typeface="IPAexGothic"/>
                <a:ea typeface="IPAexGothic"/>
              </a:rPr>
              <a:t>補足B　B4とFでも成功する対象は一致しない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81912"/>
            <a:ext cx="10972800" cy="16459"/>
          </a:xfrm>
          <a:prstGeom prst="rect">
            <a:avLst/>
          </a:prstGeom>
          <a:solidFill>
            <a:srgbClr val="DC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698480" cy="22860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00" b="0" lang="ja-JP">
                <a:solidFill>
                  <a:srgbClr val="52677B"/>
                </a:solidFill>
                <a:latin typeface="IPAexGothic"/>
                <a:ea typeface="IPAexGothic"/>
              </a:rPr>
              <a:t>[3] Pの既存集計 ／ [4] B4 pairwise.csv  ｜  2026-10-28更新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28232"/>
            <a:ext cx="594360" cy="32004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0" lang="ja-JP">
                <a:solidFill>
                  <a:srgbClr val="52677B"/>
                </a:solidFill>
                <a:latin typeface="IPAexGothic"/>
                <a:ea typeface="IPAexGothic"/>
              </a:rPr>
              <a:t>15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1947672"/>
          <a:ext cx="10972800" cy="1408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70408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500" b="1">
                          <a:solidFill>
                            <a:srgbClr val="FFFFFF"/>
                          </a:solidFill>
                          <a:latin typeface="IPAexGothic"/>
                          <a:ea typeface="IPAexGothic"/>
                        </a:rPr>
                        <a:t>共通成功</a:t>
                      </a:r>
                    </a:p>
                  </a:txBody>
                  <a:tcPr marL="109728" marR="109728" marT="22860" marB="22860" anchor="ctr">
                    <a:solidFill>
                      <a:srgbClr val="17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500" b="1">
                          <a:solidFill>
                            <a:srgbClr val="FFFFFF"/>
                          </a:solidFill>
                          <a:latin typeface="IPAexGothic"/>
                          <a:ea typeface="IPAexGothic"/>
                        </a:rPr>
                        <a:t>B4のみ</a:t>
                      </a:r>
                    </a:p>
                  </a:txBody>
                  <a:tcPr marL="109728" marR="109728" marT="22860" marB="22860" anchor="ctr">
                    <a:solidFill>
                      <a:srgbClr val="17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500" b="1">
                          <a:solidFill>
                            <a:srgbClr val="FFFFFF"/>
                          </a:solidFill>
                          <a:latin typeface="IPAexGothic"/>
                          <a:ea typeface="IPAexGothic"/>
                        </a:rPr>
                        <a:t>Fのみ</a:t>
                      </a:r>
                    </a:p>
                  </a:txBody>
                  <a:tcPr marL="109728" marR="109728" marT="22860" marB="22860" anchor="ctr">
                    <a:solidFill>
                      <a:srgbClr val="17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500" b="1">
                          <a:solidFill>
                            <a:srgbClr val="FFFFFF"/>
                          </a:solidFill>
                          <a:latin typeface="IPAexGothic"/>
                          <a:ea typeface="IPAexGothic"/>
                        </a:rPr>
                        <a:t>双方未成功</a:t>
                      </a:r>
                    </a:p>
                  </a:txBody>
                  <a:tcPr marL="109728" marR="109728" marT="22860" marB="22860" anchor="ctr">
                    <a:solidFill>
                      <a:srgbClr val="172D44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5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131</a:t>
                      </a:r>
                    </a:p>
                  </a:txBody>
                  <a:tcPr marL="109728" marR="109728" marT="22860" marB="2286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5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86</a:t>
                      </a:r>
                    </a:p>
                  </a:txBody>
                  <a:tcPr marL="109728" marR="109728" marT="22860" marB="2286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5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52</a:t>
                      </a:r>
                    </a:p>
                  </a:txBody>
                  <a:tcPr marL="109728" marR="109728" marT="22860" marB="2286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25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276</a:t>
                      </a:r>
                    </a:p>
                  </a:txBody>
                  <a:tcPr marL="109728" marR="109728" marT="22860" marB="22860" anchor="ctr">
                    <a:solidFill>
                      <a:srgbClr val="F0F5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41248" y="3858768"/>
            <a:ext cx="10515600" cy="5943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500" b="1" lang="ja-JP">
                <a:solidFill>
                  <a:srgbClr val="203348"/>
                </a:solidFill>
                <a:latin typeface="IPAexGothic"/>
                <a:ea typeface="IPAexGothic"/>
              </a:rPr>
              <a:t>B4とFの対応比較の分母：初期失敗545組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617720"/>
            <a:ext cx="10515600" cy="896112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300" b="0" lang="ja-JP">
                <a:solidFill>
                  <a:srgbClr val="203348"/>
                </a:solidFill>
                <a:latin typeface="IPAexGothic"/>
                <a:ea typeface="IPAexGothic"/>
              </a:rPr>
              <a:t>Pは独立1回生成：初期失敗から成功124組，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300" b="0" lang="ja-JP">
                <a:solidFill>
                  <a:srgbClr val="203348"/>
                </a:solidFill>
                <a:latin typeface="IPAexGothic"/>
                <a:ea typeface="IPAexGothic"/>
              </a:rPr>
              <a:t>初期成功に対応する失敗106組．最終成功473/1,000組．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5733288"/>
            <a:ext cx="10972800" cy="576072"/>
          </a:xfrm>
          <a:prstGeom prst="rect">
            <a:avLst/>
          </a:prstGeom>
          <a:solidFill>
            <a:srgbClr val="F0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5733288"/>
            <a:ext cx="50292" cy="576072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806440"/>
            <a:ext cx="10561320" cy="438912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200" b="1" lang="ja-JP">
                <a:solidFill>
                  <a:srgbClr val="087F8C"/>
                </a:solidFill>
                <a:latin typeface="IPAexGothic"/>
                <a:ea typeface="IPAexGothic"/>
              </a:rPr>
              <a:t>事後的な和集合を，実行前に使える選択方策とみなさない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2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10881360" cy="27432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0" lang="ja-JP">
                <a:solidFill>
                  <a:srgbClr val="087F8C"/>
                </a:solidFill>
                <a:latin typeface="IPAexGothic"/>
                <a:ea typeface="IPAexGothic"/>
              </a:rPr>
              <a:t>WiNF 2026  /  検証と限界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18520" cy="8229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900" b="1" lang="ja-JP">
                <a:solidFill>
                  <a:srgbClr val="172D44"/>
                </a:solidFill>
                <a:latin typeface="IPAexGothic"/>
                <a:ea typeface="IPAexGothic"/>
              </a:rPr>
              <a:t>補足C　評価範囲・経路・データ品質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81912"/>
            <a:ext cx="10972800" cy="16459"/>
          </a:xfrm>
          <a:prstGeom prst="rect">
            <a:avLst/>
          </a:prstGeom>
          <a:solidFill>
            <a:srgbClr val="DC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698480" cy="22860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00" b="0" lang="ja-JP">
                <a:solidFill>
                  <a:srgbClr val="52677B"/>
                </a:solidFill>
                <a:latin typeface="IPAexGothic"/>
                <a:ea typeface="IPAexGothic"/>
              </a:rPr>
              <a:t>[3][4] 保存設定・manifest・sanity report  ｜  2026-10-28更新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28232"/>
            <a:ext cx="594360" cy="32004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0" lang="ja-JP">
                <a:solidFill>
                  <a:srgbClr val="52677B"/>
                </a:solidFill>
                <a:latin typeface="IPAexGothic"/>
                <a:ea typeface="IPAexGothic"/>
              </a:rPr>
              <a:t>16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847088"/>
          <a:ext cx="1088136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8823960"/>
              </a:tblGrid>
              <a:tr h="5029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IPAexGothic"/>
                          <a:ea typeface="IPAexGothic"/>
                        </a:rPr>
                        <a:t>項目</a:t>
                      </a:r>
                    </a:p>
                  </a:txBody>
                  <a:tcPr marL="109728" marR="109728" marT="22860" marB="22860" anchor="ctr">
                    <a:solidFill>
                      <a:srgbClr val="17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IPAexGothic"/>
                          <a:ea typeface="IPAexGothic"/>
                        </a:rPr>
                        <a:t>検証範囲と限界</a:t>
                      </a:r>
                    </a:p>
                  </a:txBody>
                  <a:tcPr marL="109728" marR="109728" marT="22860" marB="22860" anchor="ctr">
                    <a:solidFill>
                      <a:srgbClr val="172D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主L3</a:t>
                      </a:r>
                    </a:p>
                  </a:txBody>
                  <a:tcPr marL="109728" marR="109728" marT="22860" marB="2286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L0：コード読込み・必須関数／L1：構築・評価／L2：指定出力一致＋構造</a:t>
                      </a:r>
                    </a:p>
                  </a:txBody>
                  <a:tcPr marL="109728" marR="109728" marT="22860" marB="22860" anchor="ctr">
                    <a:solidFill>
                      <a:srgbClr val="F0F5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出力の基準</a:t>
                      </a:r>
                    </a:p>
                  </a:txBody>
                  <a:tcPr marL="109728" marR="10972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分布：8,192 shotsの全変動距離／状態：位相整合した距離／0.05未満</a:t>
                      </a:r>
                    </a:p>
                  </a:txBody>
                  <a:tcPr marL="109728" marR="109728" marT="22860" marB="2286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構造・乱数</a:t>
                      </a:r>
                    </a:p>
                  </a:txBody>
                  <a:tcPr marL="109728" marR="109728" marT="22860" marB="2286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量子ビット数・測定/barrier以外の命令数／測定・transpile seed 42</a:t>
                      </a:r>
                    </a:p>
                  </a:txBody>
                  <a:tcPr marL="109728" marR="109728" marT="22860" marB="22860" anchor="ctr">
                    <a:solidFill>
                      <a:srgbClr val="F0F5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到達経路</a:t>
                      </a:r>
                    </a:p>
                  </a:txBody>
                  <a:tcPr marL="109728" marR="10972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保存prefix＋必要な追試suffix．分岐後に到達しない旧suffixを除外</a:t>
                      </a:r>
                    </a:p>
                  </a:txBody>
                  <a:tcPr marL="109728" marR="109728" marT="22860" marB="2286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比較の限界</a:t>
                      </a:r>
                    </a:p>
                  </a:txBody>
                  <a:tcPr marL="109728" marR="109728" marT="22860" marB="2286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共有初期・タスク・seed依存，schema・診断文・実行時期の差</a:t>
                      </a:r>
                    </a:p>
                  </a:txBody>
                  <a:tcPr marL="109728" marR="109728" marT="22860" marB="22860" anchor="ctr">
                    <a:solidFill>
                      <a:srgbClr val="F0F5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品質確認</a:t>
                      </a:r>
                    </a:p>
                  </a:txBody>
                  <a:tcPr marL="109728" marR="10972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3348"/>
                          </a:solidFill>
                          <a:latin typeface="IPAexGothic"/>
                          <a:ea typeface="IPAexGothic"/>
                        </a:rPr>
                        <a:t>B4：全1,000組，欠落・重複・予定外0．コード側NameErrorとAPI障害を区別</a:t>
                      </a:r>
                    </a:p>
                  </a:txBody>
                  <a:tcPr marL="109728" marR="109728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94360" y="5733288"/>
            <a:ext cx="10972800" cy="576072"/>
          </a:xfrm>
          <a:prstGeom prst="rect">
            <a:avLst/>
          </a:prstGeom>
          <a:solidFill>
            <a:srgbClr val="F0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5733288"/>
            <a:ext cx="50292" cy="576072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806440"/>
            <a:ext cx="10561320" cy="438912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200" b="1" lang="ja-JP">
                <a:solidFill>
                  <a:srgbClr val="087F8C"/>
                </a:solidFill>
                <a:latin typeface="IPAexGothic"/>
                <a:ea typeface="IPAexGothic"/>
              </a:rPr>
              <a:t>旧120件は別設定の既報として保持し，主結果に合算しない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2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10881360" cy="27432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0" lang="ja-JP">
                <a:solidFill>
                  <a:srgbClr val="087F8C"/>
                </a:solidFill>
                <a:latin typeface="IPAexGothic"/>
                <a:ea typeface="IPAexGothic"/>
              </a:rPr>
              <a:t>WiNF 2026  /  出典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18520" cy="8229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900" b="1" lang="ja-JP">
                <a:solidFill>
                  <a:srgbClr val="172D44"/>
                </a:solidFill>
                <a:latin typeface="IPAexGothic"/>
                <a:ea typeface="IPAexGothic"/>
              </a:rPr>
              <a:t>補足D　参考文献と固定出典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81912"/>
            <a:ext cx="10972800" cy="16459"/>
          </a:xfrm>
          <a:prstGeom prst="rect">
            <a:avLst/>
          </a:prstGeom>
          <a:solidFill>
            <a:srgbClr val="DC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698480" cy="22860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00" b="0" lang="ja-JP">
                <a:solidFill>
                  <a:srgbClr val="52677B"/>
                </a:solidFill>
                <a:latin typeface="IPAexGothic"/>
                <a:ea typeface="IPAexGothic"/>
              </a:rPr>
              <a:t>[1]–[4] 参考文献・公開用集計  ｜  2026-10-28更新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28232"/>
            <a:ext cx="594360" cy="32004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0" lang="ja-JP">
                <a:solidFill>
                  <a:srgbClr val="52677B"/>
                </a:solidFill>
                <a:latin typeface="IPAexGothic"/>
                <a:ea typeface="IPAexGothic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47088"/>
            <a:ext cx="10607040" cy="86868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900" b="0" lang="ja-JP">
                <a:solidFill>
                  <a:srgbClr val="203348"/>
                </a:solidFill>
                <a:latin typeface="IPAexGothic"/>
                <a:ea typeface="IPAexGothic"/>
              </a:rPr>
              <a:t>[1] A. Madaan et al.  Self-Refine: Iterative Refinement with Self-Feedback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900" b="0" lang="ja-JP">
                <a:solidFill>
                  <a:srgbClr val="203348"/>
                </a:solidFill>
                <a:latin typeface="IPAexGothic"/>
                <a:ea typeface="IPAexGothic"/>
              </a:rPr>
              <a:t>      arXiv:2303.17651 (2023).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62072"/>
            <a:ext cx="10607040" cy="86868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900" b="0" lang="ja-JP">
                <a:solidFill>
                  <a:srgbClr val="203348"/>
                </a:solidFill>
                <a:latin typeface="IPAexGothic"/>
                <a:ea typeface="IPAexGothic"/>
              </a:rPr>
              <a:t>[2] X. Chen et al.  Teaching Large Language Models to Self-Debug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900" b="0" lang="ja-JP">
                <a:solidFill>
                  <a:srgbClr val="203348"/>
                </a:solidFill>
                <a:latin typeface="IPAexGothic"/>
                <a:ea typeface="IPAexGothic"/>
              </a:rPr>
              <a:t>      arXiv:2304.05128 (2023).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877056"/>
            <a:ext cx="10607040" cy="8229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800" b="0" lang="ja-JP">
                <a:solidFill>
                  <a:srgbClr val="203348"/>
                </a:solidFill>
                <a:latin typeface="IPAexGothic"/>
                <a:ea typeface="IPAexGothic"/>
              </a:rPr>
              <a:t>[3] 現行到達経路の固定集計（2026-10-16）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800" b="0" lang="ja-JP">
                <a:solidFill>
                  <a:srgbClr val="203348"/>
                </a:solidFill>
                <a:latin typeface="IPAexGothic"/>
                <a:ea typeface="IPAexGothic"/>
              </a:rPr>
              <a:t>      docs/presentation_sources/20261016T_reachable_rescues/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00600"/>
            <a:ext cx="10607040" cy="8229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800" b="0" lang="ja-JP">
                <a:solidFill>
                  <a:srgbClr val="203348"/>
                </a:solidFill>
                <a:latin typeface="IPAexGothic"/>
                <a:ea typeface="IPAexGothic"/>
              </a:rPr>
              <a:t>[4] B4追加実験の完了集計（2026-10-22固定）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800" b="0" lang="ja-JP">
                <a:solidFill>
                  <a:srgbClr val="203348"/>
                </a:solidFill>
                <a:latin typeface="IPAexGothic"/>
                <a:ea typeface="IPAexGothic"/>
              </a:rPr>
              <a:t>      docs/analysis/independent_4_completed_20261022/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33872"/>
            <a:ext cx="10607040" cy="45720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800" b="0" lang="ja-JP">
                <a:solidFill>
                  <a:srgbClr val="087F8C"/>
                </a:solidFill>
                <a:latin typeface="IPAexGothic"/>
                <a:ea typeface="IPAexGothic"/>
              </a:rPr>
              <a:t>https://github.com/yuuma-ito/2026_ito_qLLM-ver3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量子LLM支援プログラミングにおける失敗類型と介入カタログの実証研究</dc:title>
  <dc:subject>WiNF 発表用下書き／本編約12分＋質疑用補足</dc:subject>
  <dc:creator>伊藤 悠真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